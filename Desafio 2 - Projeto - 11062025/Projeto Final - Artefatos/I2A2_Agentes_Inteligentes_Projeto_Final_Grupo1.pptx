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h5HV7jsEe0+dscwCawAtKCTcPn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4751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/>
        </p:nvSpPr>
        <p:spPr>
          <a:xfrm>
            <a:off x="63500" y="4927600"/>
            <a:ext cx="40481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Público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FFFFF">
              <a:alpha val="431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-457200" y="3771900"/>
            <a:ext cx="1828800" cy="1828800"/>
          </a:xfrm>
          <a:prstGeom prst="ellipse">
            <a:avLst/>
          </a:prstGeom>
          <a:solidFill>
            <a:srgbClr val="FFFFFF">
              <a:alpha val="431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005733" y="1052977"/>
            <a:ext cx="3449254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75"/>
              <a:buFont typeface="Montserrat"/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Agente NFe </a:t>
            </a:r>
            <a:endParaRPr sz="33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600200" y="1762430"/>
            <a:ext cx="601503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350"/>
              <a:buFont typeface="Montserrat"/>
              <a:buNone/>
            </a:pPr>
            <a:r>
              <a:rPr lang="en-US" sz="1350" b="1" i="0" u="none" strike="noStrike" cap="none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Automatizando a Extração de Dados Fiscais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600200" y="2209205"/>
            <a:ext cx="5943600" cy="1203722"/>
          </a:xfrm>
          <a:prstGeom prst="rect">
            <a:avLst/>
          </a:prstGeom>
          <a:solidFill>
            <a:srgbClr val="FFFFFF">
              <a:alpha val="941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8353" y="2437805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296966" y="2444948"/>
            <a:ext cx="95011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Problema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991320" y="2782491"/>
            <a:ext cx="1376958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Empresas processam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77192" y="2792063"/>
            <a:ext cx="985847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-US" sz="1013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manualmente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287910" y="2787598"/>
            <a:ext cx="2980730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grandes volumes de documentos fiscais, gerando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700463" y="2991445"/>
            <a:ext cx="775097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ineficiência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404122" y="2991445"/>
            <a:ext cx="210741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43425" y="2991445"/>
            <a:ext cx="971550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erros custosos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86050" y="3664744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2957513" y="3623667"/>
            <a:ext cx="1092994" cy="29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Open Sans"/>
              <a:buNone/>
            </a:pPr>
            <a:r>
              <a:rPr lang="en-US" sz="1687" b="1" i="0" u="none" strike="noStrike" cap="none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Centenas</a:t>
            </a:r>
            <a:endParaRPr sz="16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686050" y="3955852"/>
            <a:ext cx="136445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Horas perdidas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21969" y="3664744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4593431" y="3623667"/>
            <a:ext cx="541139" cy="29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Open Sans"/>
              <a:buNone/>
            </a:pPr>
            <a:r>
              <a:rPr lang="en-US" sz="1687" b="1" i="0" u="none" strike="noStrike" cap="none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Alto</a:t>
            </a:r>
            <a:endParaRPr sz="16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321969" y="3955852"/>
            <a:ext cx="81260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Índice de erros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08712" y="3664744"/>
            <a:ext cx="241102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"/>
          <p:cNvSpPr/>
          <p:nvPr/>
        </p:nvSpPr>
        <p:spPr>
          <a:xfrm>
            <a:off x="5706963" y="3623667"/>
            <a:ext cx="819745" cy="29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Open Sans"/>
              <a:buNone/>
            </a:pPr>
            <a:r>
              <a:rPr lang="en-US" sz="1687" b="1" i="0" u="none" strike="noStrike" cap="none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Custos</a:t>
            </a:r>
            <a:endParaRPr sz="16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406033" y="3955852"/>
            <a:ext cx="112335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Operacionais elevados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2351187" y="191095"/>
            <a:ext cx="2555677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Arquitetura 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35426" y="191095"/>
            <a:ext cx="2028825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Tecnologia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334681" y="957270"/>
            <a:ext cx="948300" cy="428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8981" y="1085858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1684724" y="1071570"/>
            <a:ext cx="55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Usuário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480" y="1463495"/>
            <a:ext cx="160734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457200" y="1766888"/>
            <a:ext cx="2590800" cy="17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523991" y="1938338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6866" y="20812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628650" y="2509838"/>
            <a:ext cx="231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Agente 1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28650" y="2795588"/>
            <a:ext cx="2319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4A90E2"/>
                </a:solidFill>
                <a:latin typeface="Open Sans"/>
                <a:ea typeface="Open Sans"/>
                <a:cs typeface="Open Sans"/>
                <a:sym typeface="Open Sans"/>
              </a:rPr>
              <a:t>Aquisição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28650" y="3024188"/>
            <a:ext cx="2319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Obtém documentos fiscais via upload manual ou download de órgãos governamentais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276581" y="1766888"/>
            <a:ext cx="2590800" cy="17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343372" y="193833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86247" y="20812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3448031" y="2509838"/>
            <a:ext cx="231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Agente 2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448031" y="2795588"/>
            <a:ext cx="2319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Extração &amp; Aprendizado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448031" y="3024188"/>
            <a:ext cx="2319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Processa documentos com OCR e LLM, aprendendo novos layouts automaticamente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095991" y="1766888"/>
            <a:ext cx="2590800" cy="17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162781" y="193833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4225" y="2081213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6267441" y="2509838"/>
            <a:ext cx="231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Agente 3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267441" y="2795588"/>
            <a:ext cx="2319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D97706"/>
                </a:solidFill>
                <a:latin typeface="Open Sans"/>
                <a:ea typeface="Open Sans"/>
                <a:cs typeface="Open Sans"/>
                <a:sym typeface="Open Sans"/>
              </a:rPr>
              <a:t>Resposta &amp; Interação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267441" y="3024188"/>
            <a:ext cx="2319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Responde perguntas dos usuários usando a base de conhecimento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629025" y="3773899"/>
            <a:ext cx="1886100" cy="4287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43325" y="3990975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3979069" y="3888199"/>
            <a:ext cx="14931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Conhecimento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3512939" y="4257211"/>
            <a:ext cx="1171575" cy="20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Montserrat"/>
              <a:buNone/>
            </a:pPr>
            <a:r>
              <a:rPr lang="en-US" sz="1350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Tecnologias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71972" y="4252456"/>
            <a:ext cx="99065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50"/>
              <a:buFont typeface="Montserrat"/>
              <a:buNone/>
            </a:pPr>
            <a:r>
              <a:rPr lang="en-US" sz="1350" b="1" i="0" u="none" strike="noStrike" cap="none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  Utilizadas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836165" y="4487967"/>
            <a:ext cx="332184" cy="3429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21890" y="4577263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3800446" y="4871285"/>
            <a:ext cx="40362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Open Sans"/>
              <a:buNone/>
            </a:pPr>
            <a:r>
              <a:rPr lang="en-US" sz="78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OCR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396950" y="4487967"/>
            <a:ext cx="350044" cy="3429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64816" y="4586738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4361231" y="4871285"/>
            <a:ext cx="4214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Open Sans"/>
              <a:buNone/>
            </a:pPr>
            <a:r>
              <a:rPr lang="en-US" sz="78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LLM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975593" y="4487967"/>
            <a:ext cx="350044" cy="3429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43459" y="4586738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4939874" y="4871285"/>
            <a:ext cx="4214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Open Sans"/>
              <a:buNone/>
            </a:pPr>
            <a:r>
              <a:rPr lang="en-US" sz="78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7429500" y="-571500"/>
            <a:ext cx="2286000" cy="2286000"/>
          </a:xfrm>
          <a:prstGeom prst="ellipse">
            <a:avLst/>
          </a:prstGeom>
          <a:solidFill>
            <a:srgbClr val="DBEAFE">
              <a:alpha val="2941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-285750" y="3714750"/>
            <a:ext cx="1714500" cy="1714500"/>
          </a:xfrm>
          <a:prstGeom prst="ellipse">
            <a:avLst/>
          </a:prstGeom>
          <a:solidFill>
            <a:srgbClr val="D1FAE5">
              <a:alpha val="2941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00100" y="1219795"/>
            <a:ext cx="1244798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Nossa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973461" y="1219795"/>
            <a:ext cx="1494830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00100" y="1771650"/>
            <a:ext cx="3543300" cy="971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00100" y="1771650"/>
            <a:ext cx="28575" cy="971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550" y="1957388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1271588" y="1943100"/>
            <a:ext cx="174843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Sistema Automatizado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971550" y="2236000"/>
            <a:ext cx="32106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Extração inteligente de dados fiscais usando OCR e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71550" y="2407444"/>
            <a:ext cx="120550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Inteligência Artificial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00100" y="2914650"/>
            <a:ext cx="3543300" cy="971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00100" y="2914650"/>
            <a:ext cx="28575" cy="971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1550" y="31003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1228725" y="3086100"/>
            <a:ext cx="171985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Adaptação Inteligente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971550" y="3378994"/>
            <a:ext cx="130016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Aprende e se adapta 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200275" y="3387433"/>
            <a:ext cx="115897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diferentes formatos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971538" y="3471871"/>
            <a:ext cx="326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de documentos fiscais automaticamente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425678" y="926902"/>
            <a:ext cx="1212652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687"/>
              <a:buFont typeface="Montserrat"/>
              <a:buNone/>
            </a:pPr>
            <a:r>
              <a:rPr lang="en-US" sz="1687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Principais</a:t>
            </a:r>
            <a:endParaRPr sz="16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555008" y="927400"/>
            <a:ext cx="1247136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Montserrat"/>
              <a:buNone/>
            </a:pPr>
            <a:r>
              <a:rPr lang="en-US" sz="1687" b="1" i="0" u="none" strike="noStrike" cap="none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 Benefícios</a:t>
            </a:r>
            <a:endParaRPr sz="16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800600" y="1414463"/>
            <a:ext cx="3543300" cy="5715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914900" y="1528763"/>
            <a:ext cx="314325" cy="3429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0625" y="161805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5343525" y="1543050"/>
            <a:ext cx="156626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Economia de Tempo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343525" y="1714500"/>
            <a:ext cx="156626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Processamento 10x mais rápido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800600" y="2157413"/>
            <a:ext cx="3543300" cy="5715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914900" y="2271713"/>
            <a:ext cx="314325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00625" y="236100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5343525" y="2286000"/>
            <a:ext cx="11912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Redução de Erros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343525" y="2457450"/>
            <a:ext cx="119122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Precisão superior a 95%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800600" y="2900363"/>
            <a:ext cx="3543300" cy="5715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914900" y="3014663"/>
            <a:ext cx="296466" cy="3429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00625" y="3103959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5325666" y="3028950"/>
            <a:ext cx="13037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Organização de Dados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325666" y="3200400"/>
            <a:ext cx="130373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Estruturação automática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800600" y="3643313"/>
            <a:ext cx="3543300" cy="5715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914900" y="3757613"/>
            <a:ext cx="314325" cy="3429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00625" y="384690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5343525" y="3771900"/>
            <a:ext cx="129659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Consultas Inteligentes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343525" y="3943350"/>
            <a:ext cx="129659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Interface conversacional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2044898" y="191095"/>
            <a:ext cx="2755702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Público-Alvo 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729163" y="191095"/>
            <a:ext cx="2441377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Casos de Uso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38050" y="800100"/>
            <a:ext cx="2288100" cy="138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38050" y="800100"/>
            <a:ext cx="25200" cy="138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829696" y="951516"/>
            <a:ext cx="504600" cy="504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076" y="1109240"/>
            <a:ext cx="141949" cy="18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1089463" y="1557178"/>
            <a:ext cx="20484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Contabilidade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089463" y="1784301"/>
            <a:ext cx="2048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Profissionais que processam grandes volumes de documentos fiscais diariamente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427935" y="800100"/>
            <a:ext cx="2288100" cy="138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427935" y="800100"/>
            <a:ext cx="25200" cy="138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319582" y="951516"/>
            <a:ext cx="504600" cy="5046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7304" y="1109240"/>
            <a:ext cx="189266" cy="18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3579348" y="1557178"/>
            <a:ext cx="20484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Finanças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579348" y="1784301"/>
            <a:ext cx="2048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Equipes financeiras que precisam de dados precisos para análises e relatórios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917846" y="800100"/>
            <a:ext cx="2288100" cy="138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917846" y="800100"/>
            <a:ext cx="25200" cy="138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809492" y="951516"/>
            <a:ext cx="504600" cy="504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43555" y="1109240"/>
            <a:ext cx="236583" cy="18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/>
          <p:nvPr/>
        </p:nvSpPr>
        <p:spPr>
          <a:xfrm>
            <a:off x="6069259" y="1557178"/>
            <a:ext cx="20484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Tecnologia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069259" y="1784301"/>
            <a:ext cx="2048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Desenvolvedores e analistas focados em automação de processos fiscais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63250" y="2376950"/>
            <a:ext cx="7242600" cy="1749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2535901" y="2495250"/>
            <a:ext cx="21561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687"/>
              <a:buFont typeface="Montserrat"/>
              <a:buNone/>
            </a:pPr>
            <a:r>
              <a:rPr lang="en-US" sz="1687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Caso de Uso:</a:t>
            </a:r>
            <a:endParaRPr sz="16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171575" y="2494688"/>
            <a:ext cx="2048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687"/>
              <a:buFont typeface="Montserrat"/>
              <a:buNone/>
            </a:pPr>
            <a:r>
              <a:rPr lang="en-US" sz="1687" b="1" i="0" u="none" strike="noStrike" cap="none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Setor Varejista</a:t>
            </a:r>
            <a:endParaRPr sz="16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414201" y="2776232"/>
            <a:ext cx="2973000" cy="119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9334" y="2922625"/>
            <a:ext cx="152023" cy="13513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/>
          <p:nvPr/>
        </p:nvSpPr>
        <p:spPr>
          <a:xfrm>
            <a:off x="1768926" y="2911375"/>
            <a:ext cx="1516200" cy="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DC2626"/>
                </a:solidFill>
                <a:latin typeface="Montserrat"/>
                <a:ea typeface="Montserrat"/>
                <a:cs typeface="Montserrat"/>
                <a:sym typeface="Montserrat"/>
              </a:rPr>
              <a:t>Cenário Atual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181629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"/>
          <p:cNvSpPr/>
          <p:nvPr/>
        </p:nvSpPr>
        <p:spPr>
          <a:xfrm>
            <a:off x="1650672" y="3159100"/>
            <a:ext cx="19335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Milhares de notas fiscais por dia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361805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1650672" y="3339275"/>
            <a:ext cx="20484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Processamento manual demorado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541981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/>
          <p:nvPr/>
        </p:nvSpPr>
        <p:spPr>
          <a:xfrm>
            <a:off x="1650671" y="3519450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Alto índice de erros humanos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722158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/>
          <p:nvPr/>
        </p:nvSpPr>
        <p:spPr>
          <a:xfrm>
            <a:off x="1650671" y="3699625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Custos operacionais elevados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4567288" y="2776232"/>
            <a:ext cx="2973000" cy="119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02420" y="2922625"/>
            <a:ext cx="135132" cy="13513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/>
          <p:nvPr/>
        </p:nvSpPr>
        <p:spPr>
          <a:xfrm>
            <a:off x="4905130" y="2911375"/>
            <a:ext cx="2156100" cy="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Com Nossa Solução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181629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"/>
          <p:cNvSpPr/>
          <p:nvPr/>
        </p:nvSpPr>
        <p:spPr>
          <a:xfrm>
            <a:off x="4837549" y="3159100"/>
            <a:ext cx="2156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Processamento automático 24/7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361805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"/>
          <p:cNvSpPr/>
          <p:nvPr/>
        </p:nvSpPr>
        <p:spPr>
          <a:xfrm>
            <a:off x="4837547" y="3339275"/>
            <a:ext cx="19335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Centenas de horas economizada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541981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/>
          <p:nvPr/>
        </p:nvSpPr>
        <p:spPr>
          <a:xfrm>
            <a:off x="4837547" y="3519450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Precisão superior a 95%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722158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/>
          <p:nvPr/>
        </p:nvSpPr>
        <p:spPr>
          <a:xfrm>
            <a:off x="4837546" y="3699625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ROI positivo em 3 meses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1020275" y="4315000"/>
            <a:ext cx="2156100" cy="7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1160900" y="4455625"/>
            <a:ext cx="1933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025"/>
              <a:buFont typeface="Open Sans"/>
              <a:buNone/>
            </a:pPr>
            <a:r>
              <a:rPr lang="en-US" sz="2025" b="1" i="0" u="none" strike="noStrike" cap="none">
                <a:solidFill>
                  <a:srgbClr val="4A90E2"/>
                </a:solidFill>
                <a:latin typeface="Open Sans"/>
                <a:ea typeface="Open Sans"/>
                <a:cs typeface="Open Sans"/>
                <a:sym typeface="Open Sans"/>
              </a:rPr>
              <a:t>10x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1160900" y="4736875"/>
            <a:ext cx="19335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Mais rápido que processamento manual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3551525" y="4315000"/>
            <a:ext cx="2156100" cy="7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3692150" y="4455625"/>
            <a:ext cx="1933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25"/>
              <a:buFont typeface="Open Sans"/>
              <a:buNone/>
            </a:pPr>
            <a:r>
              <a:rPr lang="en-US" sz="2025" b="1" i="0" u="none" strike="noStrike" cap="none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95%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3692150" y="4736875"/>
            <a:ext cx="19335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Precisão na extração de dados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069250" y="4315000"/>
            <a:ext cx="2156100" cy="7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6209875" y="4455625"/>
            <a:ext cx="1933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25"/>
              <a:buFont typeface="Open Sans"/>
              <a:buNone/>
            </a:pPr>
            <a:r>
              <a:rPr lang="en-US" sz="2025" b="1" i="0" u="none" strike="noStrike" cap="none">
                <a:solidFill>
                  <a:srgbClr val="7C3AED"/>
                </a:solidFill>
                <a:latin typeface="Open Sans"/>
                <a:ea typeface="Open Sans"/>
                <a:cs typeface="Open Sans"/>
                <a:sym typeface="Open Sans"/>
              </a:rPr>
              <a:t>24/7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209875" y="4736875"/>
            <a:ext cx="19335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Disponibilidade do sistema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-32875" y="0"/>
            <a:ext cx="9144000" cy="51435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-457200" y="5314950"/>
            <a:ext cx="1828800" cy="1828800"/>
          </a:xfrm>
          <a:prstGeom prst="ellipse">
            <a:avLst/>
          </a:prstGeom>
          <a:solidFill>
            <a:srgbClr val="FFFFFF">
              <a:alpha val="431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2978944" y="191095"/>
            <a:ext cx="2334220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Proposta de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241727" y="191095"/>
            <a:ext cx="994767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493037" y="904132"/>
            <a:ext cx="1961100" cy="1124700"/>
          </a:xfrm>
          <a:prstGeom prst="rect">
            <a:avLst/>
          </a:prstGeom>
          <a:solidFill>
            <a:srgbClr val="FFFFFF">
              <a:alpha val="941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2300538" y="1033910"/>
            <a:ext cx="346200" cy="34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8686" y="1142059"/>
            <a:ext cx="129778" cy="12977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/>
          <p:nvPr/>
        </p:nvSpPr>
        <p:spPr>
          <a:xfrm>
            <a:off x="1622815" y="1466504"/>
            <a:ext cx="17556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Otimização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1622815" y="1682800"/>
            <a:ext cx="1755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Redução drástica do tempo operacional com automação inteligente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627150" y="904132"/>
            <a:ext cx="1961100" cy="1124700"/>
          </a:xfrm>
          <a:prstGeom prst="rect">
            <a:avLst/>
          </a:prstGeom>
          <a:solidFill>
            <a:srgbClr val="FFFFFF">
              <a:alpha val="941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434651" y="1033910"/>
            <a:ext cx="346200" cy="346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42800" y="1142059"/>
            <a:ext cx="129778" cy="12977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5"/>
          <p:cNvSpPr/>
          <p:nvPr/>
        </p:nvSpPr>
        <p:spPr>
          <a:xfrm>
            <a:off x="3756928" y="1466504"/>
            <a:ext cx="17556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Precisão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756928" y="1682800"/>
            <a:ext cx="1755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Eliminação de erros manuais com tecnologia de ponta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761286" y="904132"/>
            <a:ext cx="1961100" cy="1124700"/>
          </a:xfrm>
          <a:prstGeom prst="rect">
            <a:avLst/>
          </a:prstGeom>
          <a:solidFill>
            <a:srgbClr val="FFFFFF">
              <a:alpha val="941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568786" y="1033910"/>
            <a:ext cx="346200" cy="346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6934" y="1142059"/>
            <a:ext cx="129778" cy="12977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/>
          <p:nvPr/>
        </p:nvSpPr>
        <p:spPr>
          <a:xfrm>
            <a:off x="5891064" y="1466504"/>
            <a:ext cx="17556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Controle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5891064" y="1682800"/>
            <a:ext cx="1755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Maior segurança e rastreabilidade das informações fiscais</a:t>
            </a:r>
            <a:endParaRPr sz="7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1493025" y="2284200"/>
            <a:ext cx="6229500" cy="1124700"/>
          </a:xfrm>
          <a:prstGeom prst="rect">
            <a:avLst/>
          </a:prstGeom>
          <a:solidFill>
            <a:srgbClr val="FFFFFF">
              <a:alpha val="941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3217342" y="2376163"/>
            <a:ext cx="30840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Montserrat"/>
              <a:buNone/>
            </a:pPr>
            <a:r>
              <a:rPr lang="en-US" sz="1687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Critérios de Sucesso</a:t>
            </a:r>
            <a:endParaRPr sz="16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0472" y="2844288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"/>
          <p:cNvSpPr/>
          <p:nvPr/>
        </p:nvSpPr>
        <p:spPr>
          <a:xfrm>
            <a:off x="2261897" y="2832325"/>
            <a:ext cx="21726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Precisão na extração superior a 95%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0472" y="3083586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"/>
          <p:cNvSpPr/>
          <p:nvPr/>
        </p:nvSpPr>
        <p:spPr>
          <a:xfrm>
            <a:off x="2261896" y="3071625"/>
            <a:ext cx="20397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Interface intuitiva e fácil de usar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0642" y="2844288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"/>
          <p:cNvSpPr/>
          <p:nvPr/>
        </p:nvSpPr>
        <p:spPr>
          <a:xfrm>
            <a:off x="5612073" y="2832325"/>
            <a:ext cx="19611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Integração com fontes oficiais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0642" y="3083586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"/>
          <p:cNvSpPr/>
          <p:nvPr/>
        </p:nvSpPr>
        <p:spPr>
          <a:xfrm>
            <a:off x="5612073" y="3071625"/>
            <a:ext cx="20397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Adaptação a diferentes formatos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3373123" y="3518600"/>
            <a:ext cx="25179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Montserrat"/>
              <a:buNone/>
            </a:pPr>
            <a:r>
              <a:rPr lang="en-US" sz="1687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Próximos </a:t>
            </a:r>
            <a:r>
              <a:rPr lang="en-US" sz="1687" b="1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Passos</a:t>
            </a:r>
            <a:endParaRPr sz="1687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2362537" y="3837943"/>
            <a:ext cx="244800" cy="244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2435482" y="3898265"/>
            <a:ext cx="103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1796475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Desenvolvimento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1796475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MVP e testes iniciais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3861836" y="3837943"/>
            <a:ext cx="244800" cy="2448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3939442" y="3893602"/>
            <a:ext cx="103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267801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Piloto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3295774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Teste com clientes selecionados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5361134" y="3837943"/>
            <a:ext cx="244800" cy="244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5438742" y="3893602"/>
            <a:ext cx="103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781086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Refinamento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795072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Ajustes baseados no feedback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860433" y="3837943"/>
            <a:ext cx="244800" cy="24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933378" y="3891124"/>
            <a:ext cx="1032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6271060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Lançamento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294371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Disponibilização comercial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2751875" y="4475700"/>
            <a:ext cx="3816900" cy="59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3314260" y="4507009"/>
            <a:ext cx="28902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Vamos Transformar Juntos!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2751875" y="4709600"/>
            <a:ext cx="3763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Automatize seus processos fiscais e economize</a:t>
            </a:r>
            <a:endParaRPr sz="1013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centenas de horas</a:t>
            </a:r>
            <a:endParaRPr sz="1013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-457200" y="3771900"/>
            <a:ext cx="1828800" cy="1828800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2452488" y="212924"/>
            <a:ext cx="423902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Arquitetura da solução</a:t>
            </a:r>
            <a:endParaRPr sz="27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chemeClr val="accent1">
              <a:alpha val="470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-457200" y="3771900"/>
            <a:ext cx="1828800" cy="1828800"/>
          </a:xfrm>
          <a:prstGeom prst="ellipse">
            <a:avLst/>
          </a:prstGeom>
          <a:solidFill>
            <a:schemeClr val="accent1">
              <a:alpha val="470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6" y="1171785"/>
            <a:ext cx="8265240" cy="2920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/>
          <p:nvPr/>
        </p:nvSpPr>
        <p:spPr>
          <a:xfrm>
            <a:off x="2347876" y="254177"/>
            <a:ext cx="444824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Modelo capaz de extrair:</a:t>
            </a:r>
            <a:endParaRPr sz="2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4421" y="1074607"/>
            <a:ext cx="250507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4421" y="2814029"/>
            <a:ext cx="2505075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80748" y="1069844"/>
            <a:ext cx="25146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80748" y="2823553"/>
            <a:ext cx="2495550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9"/>
          <p:cNvSpPr/>
          <p:nvPr/>
        </p:nvSpPr>
        <p:spPr>
          <a:xfrm>
            <a:off x="1930606" y="1069843"/>
            <a:ext cx="52197" cy="161924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944842" y="2814029"/>
            <a:ext cx="45719" cy="17240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628551" y="1069843"/>
            <a:ext cx="52197" cy="1628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628551" y="2823552"/>
            <a:ext cx="52197" cy="1704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 rot="-5400000">
            <a:off x="3582776" y="-617423"/>
            <a:ext cx="52197" cy="252199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/>
          <p:nvPr/>
        </p:nvSpPr>
        <p:spPr>
          <a:xfrm>
            <a:off x="1545458" y="226937"/>
            <a:ext cx="60530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Interface </a:t>
            </a:r>
            <a:r>
              <a:rPr lang="en-US" sz="2700" b="1" i="0" u="none" strike="noStrike" cap="none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para envio e consulta</a:t>
            </a:r>
            <a:endParaRPr sz="2700" b="0" i="0" u="none" strike="noStrike" cap="non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677667" y="945335"/>
            <a:ext cx="1098568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0" i="0" u="none" strike="noStrike" cap="none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Exemplo</a:t>
            </a:r>
            <a:r>
              <a:rPr lang="en-US" sz="1125" b="0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br>
              <a:rPr lang="en-US" sz="1125" b="0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125" b="1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carga de NF-e </a:t>
            </a:r>
            <a:r>
              <a:rPr lang="en-US" sz="1125" b="1" i="0" u="none" strike="noStrike" cap="none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1125" b="1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 XML</a:t>
            </a:r>
            <a:endParaRPr sz="11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367765" y="945335"/>
            <a:ext cx="118669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0" i="0" u="none" strike="noStrike" cap="none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Pergunta</a:t>
            </a:r>
            <a:r>
              <a:rPr lang="en-US" sz="1125" b="0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br>
              <a:rPr lang="en-US" sz="1125" b="1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25" b="1" dirty="0">
                <a:solidFill>
                  <a:srgbClr val="1A365D"/>
                </a:solidFill>
                <a:latin typeface="Montserrat"/>
              </a:rPr>
              <a:t>Qual é o Valor do ICMS e o Valor Total da NF-e para fins de conferência contábil e fiscal?</a:t>
            </a:r>
            <a:endParaRPr sz="1125" b="1" dirty="0">
              <a:solidFill>
                <a:srgbClr val="1A365D"/>
              </a:solidFill>
              <a:latin typeface="Montserrat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0287C85-0DA7-4B9C-B01C-52C68B1EC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872" y="696918"/>
            <a:ext cx="2541564" cy="4369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/>
          <p:nvPr/>
        </p:nvSpPr>
        <p:spPr>
          <a:xfrm>
            <a:off x="1545458" y="226937"/>
            <a:ext cx="60530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i="0" u="none" strike="noStrike" cap="none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Interface </a:t>
            </a:r>
            <a:r>
              <a:rPr lang="en-US" sz="2700" b="1" i="0" u="none" strike="noStrike" cap="none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para envio e consulta</a:t>
            </a:r>
            <a:endParaRPr sz="2700" b="0" i="0" u="none" strike="noStrike" cap="non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677667" y="945335"/>
            <a:ext cx="1098568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0" i="0" u="none" strike="noStrike" cap="none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Exemplo</a:t>
            </a:r>
            <a:r>
              <a:rPr lang="en-US" sz="1125" b="0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br>
              <a:rPr lang="en-US" sz="1125" b="0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125" b="1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carga de NF-e </a:t>
            </a:r>
            <a:r>
              <a:rPr lang="en-US" sz="1125" b="1" i="0" u="none" strike="noStrike" cap="none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1125" b="1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 XML</a:t>
            </a:r>
            <a:endParaRPr sz="11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339073" y="945335"/>
            <a:ext cx="1186695" cy="121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0" i="0" u="none" strike="noStrike" cap="none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Pergunta</a:t>
            </a:r>
            <a:r>
              <a:rPr lang="en-US" sz="1125" b="0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br>
              <a:rPr lang="en-US" sz="1125" b="1" i="0" u="none" strike="noStrike" cap="none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25" b="1" dirty="0">
                <a:solidFill>
                  <a:srgbClr val="1A365D"/>
                </a:solidFill>
                <a:latin typeface="Montserrat"/>
              </a:rPr>
              <a:t>O documento possui o Protocolo de Autorização de Uso emitido pela Sefaz ?</a:t>
            </a:r>
            <a:endParaRPr sz="1125" b="1" dirty="0">
              <a:solidFill>
                <a:srgbClr val="1A365D"/>
              </a:solidFill>
              <a:latin typeface="Montserrat"/>
              <a:sym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EC033B-5EB4-4B5F-BA5C-431EB1DAB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607" y="880532"/>
            <a:ext cx="3212786" cy="301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20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"/>
          <p:cNvSpPr/>
          <p:nvPr/>
        </p:nvSpPr>
        <p:spPr>
          <a:xfrm>
            <a:off x="5248255" y="1220459"/>
            <a:ext cx="291277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Integrantes do grupo:</a:t>
            </a: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5248255" y="2155094"/>
            <a:ext cx="3058248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Antonio João Nascimento Dantas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Daniel Correa Rodrigues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Eduarda Silveira Cardoso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Lorrane da F C Santos Santana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Luciane Schumacher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Valdinei de Souza Camargo</a:t>
            </a:r>
            <a:endParaRPr/>
          </a:p>
        </p:txBody>
      </p:sp>
      <p:cxnSp>
        <p:nvCxnSpPr>
          <p:cNvPr id="287" name="Google Shape;287;p12"/>
          <p:cNvCxnSpPr/>
          <p:nvPr/>
        </p:nvCxnSpPr>
        <p:spPr>
          <a:xfrm>
            <a:off x="4565073" y="1073727"/>
            <a:ext cx="0" cy="3228109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8" name="Google Shape;288;p12"/>
          <p:cNvSpPr/>
          <p:nvPr/>
        </p:nvSpPr>
        <p:spPr>
          <a:xfrm>
            <a:off x="837497" y="2312063"/>
            <a:ext cx="269141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75"/>
              <a:buFont typeface="Montserrat"/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Agente NFe</a:t>
            </a:r>
            <a:endParaRPr sz="33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446</Words>
  <Application>Microsoft Office PowerPoint</Application>
  <PresentationFormat>Apresentação na tela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Montserrat</vt:lpstr>
      <vt:lpstr>Calibri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PptxGenJS</dc:creator>
  <cp:lastModifiedBy>Antonio Dantas</cp:lastModifiedBy>
  <cp:revision>7</cp:revision>
  <dcterms:created xsi:type="dcterms:W3CDTF">2025-06-06T01:48:02Z</dcterms:created>
  <dcterms:modified xsi:type="dcterms:W3CDTF">2025-11-02T18:11:25Z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Público</vt:lpwstr>
  </property>
</Properties>
</file>