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embeddedFontLs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Montserrat" panose="00000500000000000000" pitchFamily="2" charset="0"/>
      <p:regular r:id="rId17"/>
      <p:bold r:id="rId18"/>
      <p:italic r:id="rId19"/>
      <p:boldItalic r:id="rId20"/>
    </p:embeddedFont>
    <p:embeddedFont>
      <p:font typeface="Open Sans" panose="020B0606030504020204" pitchFamily="34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5" roundtripDataSignature="AMtx7mh5HV7jsEe0+dscwCawAtKCTcPn5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1" d="100"/>
          <a:sy n="141" d="100"/>
        </p:scale>
        <p:origin x="57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" name="Google Shape;10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" name="Google Shape;38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" name="Google Shape;81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5" name="Google Shape;125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0" name="Google Shape;240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9" name="Google Shape;249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4" name="Google Shape;264;p1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4" name="Google Shape;274;p1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2" name="Google Shape;282;p1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6"/>
          <p:cNvSpPr txBox="1"/>
          <p:nvPr/>
        </p:nvSpPr>
        <p:spPr>
          <a:xfrm>
            <a:off x="63500" y="4927600"/>
            <a:ext cx="404813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Público</a:t>
            </a: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1"/>
          <p:cNvSpPr/>
          <p:nvPr/>
        </p:nvSpPr>
        <p:spPr>
          <a:xfrm>
            <a:off x="7315200" y="-914400"/>
            <a:ext cx="2743200" cy="2743200"/>
          </a:xfrm>
          <a:prstGeom prst="ellipse">
            <a:avLst/>
          </a:prstGeom>
          <a:solidFill>
            <a:srgbClr val="FFFFFF">
              <a:alpha val="4313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1"/>
          <p:cNvSpPr/>
          <p:nvPr/>
        </p:nvSpPr>
        <p:spPr>
          <a:xfrm>
            <a:off x="-457200" y="3771900"/>
            <a:ext cx="1828800" cy="1828800"/>
          </a:xfrm>
          <a:prstGeom prst="ellipse">
            <a:avLst/>
          </a:prstGeom>
          <a:solidFill>
            <a:srgbClr val="FFFFFF">
              <a:alpha val="4313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1"/>
          <p:cNvSpPr/>
          <p:nvPr/>
        </p:nvSpPr>
        <p:spPr>
          <a:xfrm>
            <a:off x="3005733" y="1052977"/>
            <a:ext cx="3449254" cy="519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75"/>
              <a:buFont typeface="Montserrat"/>
              <a:buNone/>
            </a:pPr>
            <a:r>
              <a:rPr lang="en-US" sz="3375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Agente NFe </a:t>
            </a:r>
            <a:endParaRPr sz="337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1600200" y="1762430"/>
            <a:ext cx="6015038" cy="207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90E2"/>
              </a:buClr>
              <a:buSzPts val="1350"/>
              <a:buFont typeface="Montserrat"/>
              <a:buNone/>
            </a:pPr>
            <a:r>
              <a:rPr lang="en-US" sz="1350" b="1" i="0" u="none" strike="noStrike" cap="none">
                <a:solidFill>
                  <a:srgbClr val="4A90E2"/>
                </a:solidFill>
                <a:latin typeface="Montserrat"/>
                <a:ea typeface="Montserrat"/>
                <a:cs typeface="Montserrat"/>
                <a:sym typeface="Montserrat"/>
              </a:rPr>
              <a:t>Automatizando a Extração de Dados Fiscais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1600200" y="2209205"/>
            <a:ext cx="5943600" cy="1203722"/>
          </a:xfrm>
          <a:prstGeom prst="rect">
            <a:avLst/>
          </a:prstGeom>
          <a:solidFill>
            <a:srgbClr val="FFFFFF">
              <a:alpha val="9411"/>
            </a:srgb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" name="Google Shape;19;p1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968353" y="2437805"/>
            <a:ext cx="214313" cy="214313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1"/>
          <p:cNvSpPr/>
          <p:nvPr/>
        </p:nvSpPr>
        <p:spPr>
          <a:xfrm>
            <a:off x="4296966" y="2444948"/>
            <a:ext cx="950119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O Problema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1991320" y="2782491"/>
            <a:ext cx="1376958" cy="1750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Empresas processam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3277192" y="2792063"/>
            <a:ext cx="985847" cy="155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 </a:t>
            </a:r>
            <a:r>
              <a:rPr lang="en-US" sz="1013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manualmente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4287910" y="2787598"/>
            <a:ext cx="2980730" cy="155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grandes volumes de documentos fiscais, gerando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3700463" y="2991445"/>
            <a:ext cx="775097" cy="1750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ineficiência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4404122" y="2991445"/>
            <a:ext cx="210741" cy="1750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4543425" y="2991445"/>
            <a:ext cx="971550" cy="1750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erros custosos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1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686050" y="3664744"/>
            <a:ext cx="214313" cy="214313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"/>
          <p:cNvSpPr/>
          <p:nvPr/>
        </p:nvSpPr>
        <p:spPr>
          <a:xfrm>
            <a:off x="2957513" y="3623667"/>
            <a:ext cx="1092994" cy="291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1687"/>
              <a:buFont typeface="Open Sans"/>
              <a:buNone/>
            </a:pPr>
            <a:r>
              <a:rPr lang="en-US" sz="1687" b="1" i="0" u="none" strike="noStrike" cap="none">
                <a:solidFill>
                  <a:srgbClr val="27AE60"/>
                </a:solidFill>
                <a:latin typeface="Open Sans"/>
                <a:ea typeface="Open Sans"/>
                <a:cs typeface="Open Sans"/>
                <a:sym typeface="Open Sans"/>
              </a:rPr>
              <a:t>Centenas</a:t>
            </a:r>
            <a:endParaRPr sz="1687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2686050" y="3955852"/>
            <a:ext cx="1364456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Horas perdidas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" name="Google Shape;30;p1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321969" y="3664744"/>
            <a:ext cx="214313" cy="2143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1"/>
          <p:cNvSpPr/>
          <p:nvPr/>
        </p:nvSpPr>
        <p:spPr>
          <a:xfrm>
            <a:off x="4593431" y="3623667"/>
            <a:ext cx="541139" cy="291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1687"/>
              <a:buFont typeface="Open Sans"/>
              <a:buNone/>
            </a:pPr>
            <a:r>
              <a:rPr lang="en-US" sz="1687" b="1" i="0" u="none" strike="noStrike" cap="none">
                <a:solidFill>
                  <a:srgbClr val="27AE60"/>
                </a:solidFill>
                <a:latin typeface="Open Sans"/>
                <a:ea typeface="Open Sans"/>
                <a:cs typeface="Open Sans"/>
                <a:sym typeface="Open Sans"/>
              </a:rPr>
              <a:t>Alto</a:t>
            </a:r>
            <a:endParaRPr sz="1687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4321969" y="3955852"/>
            <a:ext cx="812602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Índice de erros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3" name="Google Shape;33;p1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408712" y="3664744"/>
            <a:ext cx="241102" cy="214313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1"/>
          <p:cNvSpPr/>
          <p:nvPr/>
        </p:nvSpPr>
        <p:spPr>
          <a:xfrm>
            <a:off x="5706963" y="3623667"/>
            <a:ext cx="819745" cy="291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1687"/>
              <a:buFont typeface="Open Sans"/>
              <a:buNone/>
            </a:pPr>
            <a:r>
              <a:rPr lang="en-US" sz="1687" b="1" i="0" u="none" strike="noStrike" cap="none">
                <a:solidFill>
                  <a:srgbClr val="27AE60"/>
                </a:solidFill>
                <a:latin typeface="Open Sans"/>
                <a:ea typeface="Open Sans"/>
                <a:cs typeface="Open Sans"/>
                <a:sym typeface="Open Sans"/>
              </a:rPr>
              <a:t>Custos</a:t>
            </a:r>
            <a:endParaRPr sz="1687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5406033" y="3955852"/>
            <a:ext cx="1123355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Operacionais elevados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"/>
          <p:cNvSpPr/>
          <p:nvPr/>
        </p:nvSpPr>
        <p:spPr>
          <a:xfrm>
            <a:off x="2351187" y="191095"/>
            <a:ext cx="2555677" cy="41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Arquitetura e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4835426" y="191095"/>
            <a:ext cx="2028825" cy="41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90E2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4A90E2"/>
                </a:solidFill>
                <a:latin typeface="Montserrat"/>
                <a:ea typeface="Montserrat"/>
                <a:cs typeface="Montserrat"/>
                <a:sym typeface="Montserrat"/>
              </a:rPr>
              <a:t>Tecnologia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1334681" y="957270"/>
            <a:ext cx="948300" cy="4287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4" name="Google Shape;44;p2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48981" y="1085858"/>
            <a:ext cx="150019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2"/>
          <p:cNvSpPr/>
          <p:nvPr/>
        </p:nvSpPr>
        <p:spPr>
          <a:xfrm>
            <a:off x="1684724" y="1071570"/>
            <a:ext cx="5553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Usuário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6" name="Google Shape;46;p2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728480" y="1463495"/>
            <a:ext cx="160734" cy="214313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2"/>
          <p:cNvSpPr/>
          <p:nvPr/>
        </p:nvSpPr>
        <p:spPr>
          <a:xfrm>
            <a:off x="457200" y="1766888"/>
            <a:ext cx="2590800" cy="17430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FDBF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1523991" y="1938338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9" name="Google Shape;49;p2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666866" y="2081213"/>
            <a:ext cx="17145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2"/>
          <p:cNvSpPr/>
          <p:nvPr/>
        </p:nvSpPr>
        <p:spPr>
          <a:xfrm>
            <a:off x="628650" y="2509838"/>
            <a:ext cx="23193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Agente 1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628650" y="2795588"/>
            <a:ext cx="2319300" cy="1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90E2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4A90E2"/>
                </a:solidFill>
                <a:latin typeface="Open Sans"/>
                <a:ea typeface="Open Sans"/>
                <a:cs typeface="Open Sans"/>
                <a:sym typeface="Open Sans"/>
              </a:rPr>
              <a:t>Aquisição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628650" y="3024188"/>
            <a:ext cx="23193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Obtém documentos fiscais via upload manual ou download de órgãos governamentais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3276581" y="1766888"/>
            <a:ext cx="2590800" cy="17430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A7F3D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2"/>
          <p:cNvSpPr/>
          <p:nvPr/>
        </p:nvSpPr>
        <p:spPr>
          <a:xfrm>
            <a:off x="4343372" y="1938338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5" name="Google Shape;55;p2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486247" y="2081213"/>
            <a:ext cx="17145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2"/>
          <p:cNvSpPr/>
          <p:nvPr/>
        </p:nvSpPr>
        <p:spPr>
          <a:xfrm>
            <a:off x="3448031" y="2509838"/>
            <a:ext cx="23193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Agente 2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2"/>
          <p:cNvSpPr/>
          <p:nvPr/>
        </p:nvSpPr>
        <p:spPr>
          <a:xfrm>
            <a:off x="3448031" y="2795588"/>
            <a:ext cx="2319300" cy="1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27AE60"/>
                </a:solidFill>
                <a:latin typeface="Open Sans"/>
                <a:ea typeface="Open Sans"/>
                <a:cs typeface="Open Sans"/>
                <a:sym typeface="Open Sans"/>
              </a:rPr>
              <a:t>Extração &amp; Aprendizado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2"/>
          <p:cNvSpPr/>
          <p:nvPr/>
        </p:nvSpPr>
        <p:spPr>
          <a:xfrm>
            <a:off x="3448031" y="3024188"/>
            <a:ext cx="23193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Processa documentos com OCR e LLM, aprendendo novos layouts automaticamente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2"/>
          <p:cNvSpPr/>
          <p:nvPr/>
        </p:nvSpPr>
        <p:spPr>
          <a:xfrm>
            <a:off x="6095991" y="1766888"/>
            <a:ext cx="2590800" cy="17430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FDE68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2"/>
          <p:cNvSpPr/>
          <p:nvPr/>
        </p:nvSpPr>
        <p:spPr>
          <a:xfrm>
            <a:off x="7162781" y="1938338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1" name="Google Shape;61;p2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284225" y="2081213"/>
            <a:ext cx="214313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2"/>
          <p:cNvSpPr/>
          <p:nvPr/>
        </p:nvSpPr>
        <p:spPr>
          <a:xfrm>
            <a:off x="6267441" y="2509838"/>
            <a:ext cx="23193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Agente 3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2"/>
          <p:cNvSpPr/>
          <p:nvPr/>
        </p:nvSpPr>
        <p:spPr>
          <a:xfrm>
            <a:off x="6267441" y="2795588"/>
            <a:ext cx="2319300" cy="1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97706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D97706"/>
                </a:solidFill>
                <a:latin typeface="Open Sans"/>
                <a:ea typeface="Open Sans"/>
                <a:cs typeface="Open Sans"/>
                <a:sym typeface="Open Sans"/>
              </a:rPr>
              <a:t>Resposta &amp; Interação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2"/>
          <p:cNvSpPr/>
          <p:nvPr/>
        </p:nvSpPr>
        <p:spPr>
          <a:xfrm>
            <a:off x="6267441" y="3024188"/>
            <a:ext cx="23193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Responde perguntas dos usuários usando a base de conhecimento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2"/>
          <p:cNvSpPr/>
          <p:nvPr/>
        </p:nvSpPr>
        <p:spPr>
          <a:xfrm>
            <a:off x="3629025" y="3773899"/>
            <a:ext cx="1886100" cy="4287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6" name="Google Shape;66;p2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743325" y="3990975"/>
            <a:ext cx="150019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2"/>
          <p:cNvSpPr/>
          <p:nvPr/>
        </p:nvSpPr>
        <p:spPr>
          <a:xfrm>
            <a:off x="3979069" y="3888199"/>
            <a:ext cx="14931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Base de Conhecimento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2"/>
          <p:cNvSpPr/>
          <p:nvPr/>
        </p:nvSpPr>
        <p:spPr>
          <a:xfrm>
            <a:off x="3512939" y="4257211"/>
            <a:ext cx="1171575" cy="2089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350"/>
              <a:buFont typeface="Montserrat"/>
              <a:buNone/>
            </a:pPr>
            <a:r>
              <a:rPr lang="en-US" sz="1350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Tecnologias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2"/>
          <p:cNvSpPr/>
          <p:nvPr/>
        </p:nvSpPr>
        <p:spPr>
          <a:xfrm>
            <a:off x="4571972" y="4252456"/>
            <a:ext cx="990657" cy="207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1350"/>
              <a:buFont typeface="Montserrat"/>
              <a:buNone/>
            </a:pPr>
            <a:r>
              <a:rPr lang="en-US" sz="1350" b="1" i="0" u="none" strike="noStrike" cap="none">
                <a:solidFill>
                  <a:srgbClr val="27AE60"/>
                </a:solidFill>
                <a:latin typeface="Montserrat"/>
                <a:ea typeface="Montserrat"/>
                <a:cs typeface="Montserrat"/>
                <a:sym typeface="Montserrat"/>
              </a:rPr>
              <a:t>  Utilizadas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2"/>
          <p:cNvSpPr/>
          <p:nvPr/>
        </p:nvSpPr>
        <p:spPr>
          <a:xfrm>
            <a:off x="3836165" y="4487967"/>
            <a:ext cx="332184" cy="34290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1" name="Google Shape;71;p2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921890" y="4577263"/>
            <a:ext cx="16073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2"/>
          <p:cNvSpPr/>
          <p:nvPr/>
        </p:nvSpPr>
        <p:spPr>
          <a:xfrm>
            <a:off x="3800446" y="4871285"/>
            <a:ext cx="403622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88"/>
              <a:buFont typeface="Open Sans"/>
              <a:buNone/>
            </a:pPr>
            <a:r>
              <a:rPr lang="en-US" sz="788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OCR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2"/>
          <p:cNvSpPr/>
          <p:nvPr/>
        </p:nvSpPr>
        <p:spPr>
          <a:xfrm>
            <a:off x="4396950" y="4487967"/>
            <a:ext cx="350044" cy="342900"/>
          </a:xfrm>
          <a:prstGeom prst="ellipse">
            <a:avLst/>
          </a:prstGeom>
          <a:solidFill>
            <a:srgbClr val="D1FAE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4" name="Google Shape;74;p2" descr="preencoded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4464816" y="4586738"/>
            <a:ext cx="17859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2"/>
          <p:cNvSpPr/>
          <p:nvPr/>
        </p:nvSpPr>
        <p:spPr>
          <a:xfrm>
            <a:off x="4361231" y="4871285"/>
            <a:ext cx="421481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88"/>
              <a:buFont typeface="Open Sans"/>
              <a:buNone/>
            </a:pPr>
            <a:r>
              <a:rPr lang="en-US" sz="788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LLM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2"/>
          <p:cNvSpPr/>
          <p:nvPr/>
        </p:nvSpPr>
        <p:spPr>
          <a:xfrm>
            <a:off x="4975593" y="4487967"/>
            <a:ext cx="350044" cy="342900"/>
          </a:xfrm>
          <a:prstGeom prst="ellipse">
            <a:avLst/>
          </a:prstGeom>
          <a:solidFill>
            <a:srgbClr val="EDE9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7" name="Google Shape;77;p2" descr="preencoded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5043459" y="4586738"/>
            <a:ext cx="178594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2"/>
          <p:cNvSpPr/>
          <p:nvPr/>
        </p:nvSpPr>
        <p:spPr>
          <a:xfrm>
            <a:off x="4939874" y="4871285"/>
            <a:ext cx="421481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88"/>
              <a:buFont typeface="Open Sans"/>
              <a:buNone/>
            </a:pPr>
            <a:r>
              <a:rPr lang="en-US" sz="788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IA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3"/>
          <p:cNvSpPr/>
          <p:nvPr/>
        </p:nvSpPr>
        <p:spPr>
          <a:xfrm>
            <a:off x="7429500" y="-571500"/>
            <a:ext cx="2286000" cy="2286000"/>
          </a:xfrm>
          <a:prstGeom prst="ellipse">
            <a:avLst/>
          </a:prstGeom>
          <a:solidFill>
            <a:srgbClr val="DBEAFE">
              <a:alpha val="2941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3"/>
          <p:cNvSpPr/>
          <p:nvPr/>
        </p:nvSpPr>
        <p:spPr>
          <a:xfrm>
            <a:off x="-285750" y="3714750"/>
            <a:ext cx="1714500" cy="1714500"/>
          </a:xfrm>
          <a:prstGeom prst="ellipse">
            <a:avLst/>
          </a:prstGeom>
          <a:solidFill>
            <a:srgbClr val="D1FAE5">
              <a:alpha val="2941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3"/>
          <p:cNvSpPr/>
          <p:nvPr/>
        </p:nvSpPr>
        <p:spPr>
          <a:xfrm>
            <a:off x="800100" y="1219795"/>
            <a:ext cx="1244798" cy="41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Nossa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3"/>
          <p:cNvSpPr/>
          <p:nvPr/>
        </p:nvSpPr>
        <p:spPr>
          <a:xfrm>
            <a:off x="1973461" y="1219795"/>
            <a:ext cx="1494830" cy="41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90E2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4A90E2"/>
                </a:solidFill>
                <a:latin typeface="Montserrat"/>
                <a:ea typeface="Montserrat"/>
                <a:cs typeface="Montserrat"/>
                <a:sym typeface="Montserrat"/>
              </a:rPr>
              <a:t>Solução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800100" y="1771650"/>
            <a:ext cx="3543300" cy="9715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3"/>
          <p:cNvSpPr/>
          <p:nvPr/>
        </p:nvSpPr>
        <p:spPr>
          <a:xfrm>
            <a:off x="800100" y="1771650"/>
            <a:ext cx="28575" cy="97155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0" name="Google Shape;90;p3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1550" y="1957388"/>
            <a:ext cx="214313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3"/>
          <p:cNvSpPr/>
          <p:nvPr/>
        </p:nvSpPr>
        <p:spPr>
          <a:xfrm>
            <a:off x="1271588" y="1943100"/>
            <a:ext cx="1748433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Sistema Automatizado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3"/>
          <p:cNvSpPr/>
          <p:nvPr/>
        </p:nvSpPr>
        <p:spPr>
          <a:xfrm>
            <a:off x="971550" y="2236000"/>
            <a:ext cx="3210600" cy="15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Extração inteligente de dados fiscais usando OCR e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3"/>
          <p:cNvSpPr/>
          <p:nvPr/>
        </p:nvSpPr>
        <p:spPr>
          <a:xfrm>
            <a:off x="971550" y="2407444"/>
            <a:ext cx="1205508" cy="155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Inteligência Artificial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3"/>
          <p:cNvSpPr/>
          <p:nvPr/>
        </p:nvSpPr>
        <p:spPr>
          <a:xfrm>
            <a:off x="800100" y="2914650"/>
            <a:ext cx="3543300" cy="9715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3"/>
          <p:cNvSpPr/>
          <p:nvPr/>
        </p:nvSpPr>
        <p:spPr>
          <a:xfrm>
            <a:off x="800100" y="2914650"/>
            <a:ext cx="28575" cy="97155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6" name="Google Shape;96;p3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71550" y="3100388"/>
            <a:ext cx="17145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3"/>
          <p:cNvSpPr/>
          <p:nvPr/>
        </p:nvSpPr>
        <p:spPr>
          <a:xfrm>
            <a:off x="1228725" y="3086100"/>
            <a:ext cx="1719858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Adaptação Inteligente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3"/>
          <p:cNvSpPr/>
          <p:nvPr/>
        </p:nvSpPr>
        <p:spPr>
          <a:xfrm>
            <a:off x="971550" y="3378994"/>
            <a:ext cx="1300163" cy="155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Aprende e se adapta a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3"/>
          <p:cNvSpPr/>
          <p:nvPr/>
        </p:nvSpPr>
        <p:spPr>
          <a:xfrm>
            <a:off x="2200275" y="3387433"/>
            <a:ext cx="1158972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diferentes formatos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3"/>
          <p:cNvSpPr/>
          <p:nvPr/>
        </p:nvSpPr>
        <p:spPr>
          <a:xfrm>
            <a:off x="971538" y="3471871"/>
            <a:ext cx="32664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None/>
            </a:pPr>
            <a:endParaRPr sz="900" b="0" i="0" u="none" strike="noStrike" cap="none">
              <a:solidFill>
                <a:srgbClr val="37415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de documentos fiscais automaticamente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3"/>
          <p:cNvSpPr/>
          <p:nvPr/>
        </p:nvSpPr>
        <p:spPr>
          <a:xfrm>
            <a:off x="5425678" y="926902"/>
            <a:ext cx="1212652" cy="260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687"/>
              <a:buFont typeface="Montserrat"/>
              <a:buNone/>
            </a:pPr>
            <a:r>
              <a:rPr lang="en-US" sz="1687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Principais</a:t>
            </a:r>
            <a:endParaRPr sz="1687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3"/>
          <p:cNvSpPr/>
          <p:nvPr/>
        </p:nvSpPr>
        <p:spPr>
          <a:xfrm>
            <a:off x="6555008" y="927400"/>
            <a:ext cx="1247136" cy="259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1687"/>
              <a:buFont typeface="Montserrat"/>
              <a:buNone/>
            </a:pPr>
            <a:r>
              <a:rPr lang="en-US" sz="1687" b="1" i="0" u="none" strike="noStrike" cap="none">
                <a:solidFill>
                  <a:srgbClr val="27AE60"/>
                </a:solidFill>
                <a:latin typeface="Montserrat"/>
                <a:ea typeface="Montserrat"/>
                <a:cs typeface="Montserrat"/>
                <a:sym typeface="Montserrat"/>
              </a:rPr>
              <a:t> Benefícios</a:t>
            </a:r>
            <a:endParaRPr sz="1687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3"/>
          <p:cNvSpPr/>
          <p:nvPr/>
        </p:nvSpPr>
        <p:spPr>
          <a:xfrm>
            <a:off x="4800600" y="1414463"/>
            <a:ext cx="3543300" cy="5715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3"/>
          <p:cNvSpPr/>
          <p:nvPr/>
        </p:nvSpPr>
        <p:spPr>
          <a:xfrm>
            <a:off x="4914900" y="1528763"/>
            <a:ext cx="314325" cy="3429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5" name="Google Shape;105;p3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000625" y="1618059"/>
            <a:ext cx="14287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3"/>
          <p:cNvSpPr/>
          <p:nvPr/>
        </p:nvSpPr>
        <p:spPr>
          <a:xfrm>
            <a:off x="5343525" y="1543050"/>
            <a:ext cx="1566267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1A365D"/>
                </a:solidFill>
                <a:latin typeface="Open Sans"/>
                <a:ea typeface="Open Sans"/>
                <a:cs typeface="Open Sans"/>
                <a:sym typeface="Open Sans"/>
              </a:rPr>
              <a:t>Economia de Tempo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3"/>
          <p:cNvSpPr/>
          <p:nvPr/>
        </p:nvSpPr>
        <p:spPr>
          <a:xfrm>
            <a:off x="5343525" y="1714500"/>
            <a:ext cx="1566267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Processamento 10x mais rápido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3"/>
          <p:cNvSpPr/>
          <p:nvPr/>
        </p:nvSpPr>
        <p:spPr>
          <a:xfrm>
            <a:off x="4800600" y="2157413"/>
            <a:ext cx="3543300" cy="57150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3"/>
          <p:cNvSpPr/>
          <p:nvPr/>
        </p:nvSpPr>
        <p:spPr>
          <a:xfrm>
            <a:off x="4914900" y="2271713"/>
            <a:ext cx="314325" cy="3429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0" name="Google Shape;110;p3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000625" y="2361009"/>
            <a:ext cx="14287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3"/>
          <p:cNvSpPr/>
          <p:nvPr/>
        </p:nvSpPr>
        <p:spPr>
          <a:xfrm>
            <a:off x="5343525" y="2286000"/>
            <a:ext cx="119122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1A365D"/>
                </a:solidFill>
                <a:latin typeface="Open Sans"/>
                <a:ea typeface="Open Sans"/>
                <a:cs typeface="Open Sans"/>
                <a:sym typeface="Open Sans"/>
              </a:rPr>
              <a:t>Redução de Erros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3"/>
          <p:cNvSpPr/>
          <p:nvPr/>
        </p:nvSpPr>
        <p:spPr>
          <a:xfrm>
            <a:off x="5343525" y="2457450"/>
            <a:ext cx="119122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Precisão superior a 95%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"/>
          <p:cNvSpPr/>
          <p:nvPr/>
        </p:nvSpPr>
        <p:spPr>
          <a:xfrm>
            <a:off x="4800600" y="2900363"/>
            <a:ext cx="3543300" cy="5715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3"/>
          <p:cNvSpPr/>
          <p:nvPr/>
        </p:nvSpPr>
        <p:spPr>
          <a:xfrm>
            <a:off x="4914900" y="3014663"/>
            <a:ext cx="296466" cy="342900"/>
          </a:xfrm>
          <a:prstGeom prst="roundRect">
            <a:avLst>
              <a:gd name="adj" fmla="val 16667"/>
            </a:avLst>
          </a:prstGeom>
          <a:solidFill>
            <a:srgbClr val="8B5C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5" name="Google Shape;115;p3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000625" y="3103959"/>
            <a:ext cx="125016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3"/>
          <p:cNvSpPr/>
          <p:nvPr/>
        </p:nvSpPr>
        <p:spPr>
          <a:xfrm>
            <a:off x="5325666" y="3028950"/>
            <a:ext cx="13037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1A365D"/>
                </a:solidFill>
                <a:latin typeface="Open Sans"/>
                <a:ea typeface="Open Sans"/>
                <a:cs typeface="Open Sans"/>
                <a:sym typeface="Open Sans"/>
              </a:rPr>
              <a:t>Organização de Dados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3"/>
          <p:cNvSpPr/>
          <p:nvPr/>
        </p:nvSpPr>
        <p:spPr>
          <a:xfrm>
            <a:off x="5325666" y="3200400"/>
            <a:ext cx="1303734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Estruturação automática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3"/>
          <p:cNvSpPr/>
          <p:nvPr/>
        </p:nvSpPr>
        <p:spPr>
          <a:xfrm>
            <a:off x="4800600" y="3643313"/>
            <a:ext cx="3543300" cy="57150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3"/>
          <p:cNvSpPr/>
          <p:nvPr/>
        </p:nvSpPr>
        <p:spPr>
          <a:xfrm>
            <a:off x="4914900" y="3757613"/>
            <a:ext cx="314325" cy="3429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0" name="Google Shape;120;p3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000625" y="3846909"/>
            <a:ext cx="14287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3"/>
          <p:cNvSpPr/>
          <p:nvPr/>
        </p:nvSpPr>
        <p:spPr>
          <a:xfrm>
            <a:off x="5343525" y="3771900"/>
            <a:ext cx="129659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1A365D"/>
                </a:solidFill>
                <a:latin typeface="Open Sans"/>
                <a:ea typeface="Open Sans"/>
                <a:cs typeface="Open Sans"/>
                <a:sym typeface="Open Sans"/>
              </a:rPr>
              <a:t>Consultas Inteligentes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3"/>
          <p:cNvSpPr/>
          <p:nvPr/>
        </p:nvSpPr>
        <p:spPr>
          <a:xfrm>
            <a:off x="5343525" y="3943350"/>
            <a:ext cx="1296591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Interface conversacional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4"/>
          <p:cNvSpPr/>
          <p:nvPr/>
        </p:nvSpPr>
        <p:spPr>
          <a:xfrm>
            <a:off x="2044898" y="191095"/>
            <a:ext cx="2755702" cy="41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Público-Alvo e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4729163" y="191095"/>
            <a:ext cx="2441377" cy="41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27AE60"/>
                </a:solidFill>
                <a:latin typeface="Montserrat"/>
                <a:ea typeface="Montserrat"/>
                <a:cs typeface="Montserrat"/>
                <a:sym typeface="Montserrat"/>
              </a:rPr>
              <a:t>Casos de Uso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4"/>
          <p:cNvSpPr/>
          <p:nvPr/>
        </p:nvSpPr>
        <p:spPr>
          <a:xfrm>
            <a:off x="938050" y="800100"/>
            <a:ext cx="2288100" cy="138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4"/>
          <p:cNvSpPr/>
          <p:nvPr/>
        </p:nvSpPr>
        <p:spPr>
          <a:xfrm>
            <a:off x="938050" y="800100"/>
            <a:ext cx="25200" cy="138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4"/>
          <p:cNvSpPr/>
          <p:nvPr/>
        </p:nvSpPr>
        <p:spPr>
          <a:xfrm>
            <a:off x="1829696" y="951516"/>
            <a:ext cx="504600" cy="50460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3" name="Google Shape;133;p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011076" y="1109240"/>
            <a:ext cx="141949" cy="18927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4"/>
          <p:cNvSpPr/>
          <p:nvPr/>
        </p:nvSpPr>
        <p:spPr>
          <a:xfrm>
            <a:off x="1089463" y="1557178"/>
            <a:ext cx="2048400" cy="17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Contabilidade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4"/>
          <p:cNvSpPr/>
          <p:nvPr/>
        </p:nvSpPr>
        <p:spPr>
          <a:xfrm>
            <a:off x="1089463" y="1784301"/>
            <a:ext cx="2048400" cy="2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Profissionais que processam grandes volumes de documentos fiscais diariamente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4"/>
          <p:cNvSpPr/>
          <p:nvPr/>
        </p:nvSpPr>
        <p:spPr>
          <a:xfrm>
            <a:off x="3427935" y="800100"/>
            <a:ext cx="2288100" cy="138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3427935" y="800100"/>
            <a:ext cx="25200" cy="138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4"/>
          <p:cNvSpPr/>
          <p:nvPr/>
        </p:nvSpPr>
        <p:spPr>
          <a:xfrm>
            <a:off x="4319582" y="951516"/>
            <a:ext cx="504600" cy="504600"/>
          </a:xfrm>
          <a:prstGeom prst="ellipse">
            <a:avLst/>
          </a:prstGeom>
          <a:solidFill>
            <a:srgbClr val="D1FAE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9" name="Google Shape;139;p4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77304" y="1109240"/>
            <a:ext cx="189266" cy="18927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4"/>
          <p:cNvSpPr/>
          <p:nvPr/>
        </p:nvSpPr>
        <p:spPr>
          <a:xfrm>
            <a:off x="3579348" y="1557178"/>
            <a:ext cx="2048400" cy="17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Finanças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4"/>
          <p:cNvSpPr/>
          <p:nvPr/>
        </p:nvSpPr>
        <p:spPr>
          <a:xfrm>
            <a:off x="3579348" y="1784301"/>
            <a:ext cx="2048400" cy="2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Equipes financeiras que precisam de dados precisos para análises e relatórios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4"/>
          <p:cNvSpPr/>
          <p:nvPr/>
        </p:nvSpPr>
        <p:spPr>
          <a:xfrm>
            <a:off x="5917846" y="800100"/>
            <a:ext cx="2288100" cy="138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4"/>
          <p:cNvSpPr/>
          <p:nvPr/>
        </p:nvSpPr>
        <p:spPr>
          <a:xfrm>
            <a:off x="5917846" y="800100"/>
            <a:ext cx="25200" cy="138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4"/>
          <p:cNvSpPr/>
          <p:nvPr/>
        </p:nvSpPr>
        <p:spPr>
          <a:xfrm>
            <a:off x="6809492" y="951516"/>
            <a:ext cx="504600" cy="504600"/>
          </a:xfrm>
          <a:prstGeom prst="ellipse">
            <a:avLst/>
          </a:prstGeom>
          <a:solidFill>
            <a:srgbClr val="EDE9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5" name="Google Shape;145;p4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943555" y="1109240"/>
            <a:ext cx="236583" cy="189270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4"/>
          <p:cNvSpPr/>
          <p:nvPr/>
        </p:nvSpPr>
        <p:spPr>
          <a:xfrm>
            <a:off x="6069259" y="1557178"/>
            <a:ext cx="2048400" cy="17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Tecnologia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4"/>
          <p:cNvSpPr/>
          <p:nvPr/>
        </p:nvSpPr>
        <p:spPr>
          <a:xfrm>
            <a:off x="6069259" y="1784301"/>
            <a:ext cx="2048400" cy="2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Desenvolvedores e analistas focados em automação de processos fiscais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4"/>
          <p:cNvSpPr/>
          <p:nvPr/>
        </p:nvSpPr>
        <p:spPr>
          <a:xfrm>
            <a:off x="963250" y="2376950"/>
            <a:ext cx="7242600" cy="17493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4"/>
          <p:cNvSpPr/>
          <p:nvPr/>
        </p:nvSpPr>
        <p:spPr>
          <a:xfrm>
            <a:off x="2535901" y="2495250"/>
            <a:ext cx="2156100" cy="2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687"/>
              <a:buFont typeface="Montserrat"/>
              <a:buNone/>
            </a:pPr>
            <a:r>
              <a:rPr lang="en-US" sz="1687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Caso de Uso:</a:t>
            </a:r>
            <a:endParaRPr sz="1687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4"/>
          <p:cNvSpPr/>
          <p:nvPr/>
        </p:nvSpPr>
        <p:spPr>
          <a:xfrm>
            <a:off x="4171575" y="2494688"/>
            <a:ext cx="2048400" cy="2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90E2"/>
              </a:buClr>
              <a:buSzPts val="1687"/>
              <a:buFont typeface="Montserrat"/>
              <a:buNone/>
            </a:pPr>
            <a:r>
              <a:rPr lang="en-US" sz="1687" b="1" i="0" u="none" strike="noStrike" cap="none">
                <a:solidFill>
                  <a:srgbClr val="4A90E2"/>
                </a:solidFill>
                <a:latin typeface="Montserrat"/>
                <a:ea typeface="Montserrat"/>
                <a:cs typeface="Montserrat"/>
                <a:sym typeface="Montserrat"/>
              </a:rPr>
              <a:t>Setor Varejista</a:t>
            </a:r>
            <a:endParaRPr sz="1687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4"/>
          <p:cNvSpPr/>
          <p:nvPr/>
        </p:nvSpPr>
        <p:spPr>
          <a:xfrm>
            <a:off x="1414201" y="2776232"/>
            <a:ext cx="2973000" cy="1193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2" name="Google Shape;152;p4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549334" y="2922625"/>
            <a:ext cx="152023" cy="135132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4"/>
          <p:cNvSpPr/>
          <p:nvPr/>
        </p:nvSpPr>
        <p:spPr>
          <a:xfrm>
            <a:off x="1768926" y="2911375"/>
            <a:ext cx="1516200" cy="1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DC2626"/>
                </a:solidFill>
                <a:latin typeface="Montserrat"/>
                <a:ea typeface="Montserrat"/>
                <a:cs typeface="Montserrat"/>
                <a:sym typeface="Montserrat"/>
              </a:rPr>
              <a:t>Cenário Atual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4" name="Google Shape;154;p4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549334" y="3181629"/>
            <a:ext cx="56306" cy="9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4"/>
          <p:cNvSpPr/>
          <p:nvPr/>
        </p:nvSpPr>
        <p:spPr>
          <a:xfrm>
            <a:off x="1650672" y="3159100"/>
            <a:ext cx="19335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Milhares de notas fiscais por dia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6" name="Google Shape;156;p4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549334" y="3361805"/>
            <a:ext cx="56306" cy="9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4"/>
          <p:cNvSpPr/>
          <p:nvPr/>
        </p:nvSpPr>
        <p:spPr>
          <a:xfrm>
            <a:off x="1650672" y="3339275"/>
            <a:ext cx="20484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Processamento manual demorado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8" name="Google Shape;158;p4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549334" y="3541981"/>
            <a:ext cx="56306" cy="9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4"/>
          <p:cNvSpPr/>
          <p:nvPr/>
        </p:nvSpPr>
        <p:spPr>
          <a:xfrm>
            <a:off x="1650671" y="3519450"/>
            <a:ext cx="18891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Alto índice de erros humanos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0" name="Google Shape;160;p4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549334" y="3722158"/>
            <a:ext cx="56306" cy="9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"/>
          <p:cNvSpPr/>
          <p:nvPr/>
        </p:nvSpPr>
        <p:spPr>
          <a:xfrm>
            <a:off x="1650671" y="3699625"/>
            <a:ext cx="18891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Custos operacionais elevados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4"/>
          <p:cNvSpPr/>
          <p:nvPr/>
        </p:nvSpPr>
        <p:spPr>
          <a:xfrm>
            <a:off x="4567288" y="2776232"/>
            <a:ext cx="2973000" cy="1193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3" name="Google Shape;163;p4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702420" y="2922625"/>
            <a:ext cx="135132" cy="135132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4"/>
          <p:cNvSpPr/>
          <p:nvPr/>
        </p:nvSpPr>
        <p:spPr>
          <a:xfrm>
            <a:off x="4905130" y="2911375"/>
            <a:ext cx="2156100" cy="1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27AE60"/>
                </a:solidFill>
                <a:latin typeface="Montserrat"/>
                <a:ea typeface="Montserrat"/>
                <a:cs typeface="Montserrat"/>
                <a:sym typeface="Montserrat"/>
              </a:rPr>
              <a:t>Com Nossa Solução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5" name="Google Shape;165;p4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702420" y="3181629"/>
            <a:ext cx="90088" cy="9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4"/>
          <p:cNvSpPr/>
          <p:nvPr/>
        </p:nvSpPr>
        <p:spPr>
          <a:xfrm>
            <a:off x="4837549" y="3159100"/>
            <a:ext cx="21561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Processamento automático 24/7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7" name="Google Shape;167;p4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702420" y="3361805"/>
            <a:ext cx="90088" cy="9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4"/>
          <p:cNvSpPr/>
          <p:nvPr/>
        </p:nvSpPr>
        <p:spPr>
          <a:xfrm>
            <a:off x="4837547" y="3339275"/>
            <a:ext cx="19335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Centenas de horas economizada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9" name="Google Shape;169;p4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702420" y="3541981"/>
            <a:ext cx="90088" cy="9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4"/>
          <p:cNvSpPr/>
          <p:nvPr/>
        </p:nvSpPr>
        <p:spPr>
          <a:xfrm>
            <a:off x="4837547" y="3519450"/>
            <a:ext cx="18891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Precisão superior a 95%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1" name="Google Shape;171;p4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702420" y="3722158"/>
            <a:ext cx="90088" cy="9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4"/>
          <p:cNvSpPr/>
          <p:nvPr/>
        </p:nvSpPr>
        <p:spPr>
          <a:xfrm>
            <a:off x="4837546" y="3699625"/>
            <a:ext cx="1889100" cy="1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ROI positivo em 3 meses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4"/>
          <p:cNvSpPr/>
          <p:nvPr/>
        </p:nvSpPr>
        <p:spPr>
          <a:xfrm>
            <a:off x="1020275" y="4315000"/>
            <a:ext cx="2156100" cy="7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4"/>
          <p:cNvSpPr/>
          <p:nvPr/>
        </p:nvSpPr>
        <p:spPr>
          <a:xfrm>
            <a:off x="1160900" y="4455625"/>
            <a:ext cx="1933500" cy="2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90E2"/>
              </a:buClr>
              <a:buSzPts val="2025"/>
              <a:buFont typeface="Open Sans"/>
              <a:buNone/>
            </a:pPr>
            <a:r>
              <a:rPr lang="en-US" sz="2025" b="1" i="0" u="none" strike="noStrike" cap="none">
                <a:solidFill>
                  <a:srgbClr val="4A90E2"/>
                </a:solidFill>
                <a:latin typeface="Open Sans"/>
                <a:ea typeface="Open Sans"/>
                <a:cs typeface="Open Sans"/>
                <a:sym typeface="Open Sans"/>
              </a:rPr>
              <a:t>10x</a:t>
            </a:r>
            <a:endParaRPr sz="20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4"/>
          <p:cNvSpPr/>
          <p:nvPr/>
        </p:nvSpPr>
        <p:spPr>
          <a:xfrm>
            <a:off x="1160900" y="4736875"/>
            <a:ext cx="1933500" cy="14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Mais rápido que processamento manual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4"/>
          <p:cNvSpPr/>
          <p:nvPr/>
        </p:nvSpPr>
        <p:spPr>
          <a:xfrm>
            <a:off x="3551525" y="4315000"/>
            <a:ext cx="2156100" cy="7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4"/>
          <p:cNvSpPr/>
          <p:nvPr/>
        </p:nvSpPr>
        <p:spPr>
          <a:xfrm>
            <a:off x="3692150" y="4455625"/>
            <a:ext cx="1933500" cy="2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2025"/>
              <a:buFont typeface="Open Sans"/>
              <a:buNone/>
            </a:pPr>
            <a:r>
              <a:rPr lang="en-US" sz="2025" b="1" i="0" u="none" strike="noStrike" cap="none">
                <a:solidFill>
                  <a:srgbClr val="27AE60"/>
                </a:solidFill>
                <a:latin typeface="Open Sans"/>
                <a:ea typeface="Open Sans"/>
                <a:cs typeface="Open Sans"/>
                <a:sym typeface="Open Sans"/>
              </a:rPr>
              <a:t>95%</a:t>
            </a:r>
            <a:endParaRPr sz="20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4"/>
          <p:cNvSpPr/>
          <p:nvPr/>
        </p:nvSpPr>
        <p:spPr>
          <a:xfrm>
            <a:off x="3692150" y="4736875"/>
            <a:ext cx="1933500" cy="14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Precisão na extração de dados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4"/>
          <p:cNvSpPr/>
          <p:nvPr/>
        </p:nvSpPr>
        <p:spPr>
          <a:xfrm>
            <a:off x="6069250" y="4315000"/>
            <a:ext cx="2156100" cy="7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"/>
          <p:cNvSpPr/>
          <p:nvPr/>
        </p:nvSpPr>
        <p:spPr>
          <a:xfrm>
            <a:off x="6209875" y="4455625"/>
            <a:ext cx="1933500" cy="2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2025"/>
              <a:buFont typeface="Open Sans"/>
              <a:buNone/>
            </a:pPr>
            <a:r>
              <a:rPr lang="en-US" sz="2025" b="1" i="0" u="none" strike="noStrike" cap="none">
                <a:solidFill>
                  <a:srgbClr val="7C3AED"/>
                </a:solidFill>
                <a:latin typeface="Open Sans"/>
                <a:ea typeface="Open Sans"/>
                <a:cs typeface="Open Sans"/>
                <a:sym typeface="Open Sans"/>
              </a:rPr>
              <a:t>24/7</a:t>
            </a:r>
            <a:endParaRPr sz="20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4"/>
          <p:cNvSpPr/>
          <p:nvPr/>
        </p:nvSpPr>
        <p:spPr>
          <a:xfrm>
            <a:off x="6209875" y="4736875"/>
            <a:ext cx="1933500" cy="14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4B5563"/>
                </a:solidFill>
                <a:latin typeface="Open Sans"/>
                <a:ea typeface="Open Sans"/>
                <a:cs typeface="Open Sans"/>
                <a:sym typeface="Open Sans"/>
              </a:rPr>
              <a:t>Disponibilidade do sistema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3763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/>
          <p:nvPr/>
        </p:nvSpPr>
        <p:spPr>
          <a:xfrm>
            <a:off x="-32875" y="0"/>
            <a:ext cx="9144000" cy="5143500"/>
          </a:xfrm>
          <a:prstGeom prst="rect">
            <a:avLst/>
          </a:prstGeom>
          <a:solidFill>
            <a:srgbClr val="07376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5"/>
          <p:cNvSpPr/>
          <p:nvPr/>
        </p:nvSpPr>
        <p:spPr>
          <a:xfrm>
            <a:off x="-457200" y="5314950"/>
            <a:ext cx="1828800" cy="1828800"/>
          </a:xfrm>
          <a:prstGeom prst="ellipse">
            <a:avLst/>
          </a:prstGeom>
          <a:solidFill>
            <a:srgbClr val="FFFFFF">
              <a:alpha val="4313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5"/>
          <p:cNvSpPr/>
          <p:nvPr/>
        </p:nvSpPr>
        <p:spPr>
          <a:xfrm>
            <a:off x="2978944" y="191095"/>
            <a:ext cx="2334220" cy="41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Proposta de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5"/>
          <p:cNvSpPr/>
          <p:nvPr/>
        </p:nvSpPr>
        <p:spPr>
          <a:xfrm>
            <a:off x="5241727" y="191095"/>
            <a:ext cx="994767" cy="41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AE60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27AE60"/>
                </a:solidFill>
                <a:latin typeface="Montserrat"/>
                <a:ea typeface="Montserrat"/>
                <a:cs typeface="Montserrat"/>
                <a:sym typeface="Montserrat"/>
              </a:rPr>
              <a:t>Valor</a:t>
            </a:r>
            <a:endParaRPr sz="2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5"/>
          <p:cNvSpPr/>
          <p:nvPr/>
        </p:nvSpPr>
        <p:spPr>
          <a:xfrm>
            <a:off x="1493037" y="904132"/>
            <a:ext cx="1961100" cy="1124700"/>
          </a:xfrm>
          <a:prstGeom prst="rect">
            <a:avLst/>
          </a:prstGeom>
          <a:solidFill>
            <a:srgbClr val="FFFFFF">
              <a:alpha val="941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5"/>
          <p:cNvSpPr/>
          <p:nvPr/>
        </p:nvSpPr>
        <p:spPr>
          <a:xfrm>
            <a:off x="2300538" y="1033910"/>
            <a:ext cx="346200" cy="346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08686" y="1142059"/>
            <a:ext cx="129778" cy="129778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5"/>
          <p:cNvSpPr/>
          <p:nvPr/>
        </p:nvSpPr>
        <p:spPr>
          <a:xfrm>
            <a:off x="1622815" y="1466504"/>
            <a:ext cx="17556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Otimização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5"/>
          <p:cNvSpPr/>
          <p:nvPr/>
        </p:nvSpPr>
        <p:spPr>
          <a:xfrm>
            <a:off x="1622815" y="1682800"/>
            <a:ext cx="1755600" cy="21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Redução drástica do tempo operacional com automação inteligente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5"/>
          <p:cNvSpPr/>
          <p:nvPr/>
        </p:nvSpPr>
        <p:spPr>
          <a:xfrm>
            <a:off x="3627150" y="904132"/>
            <a:ext cx="1961100" cy="1124700"/>
          </a:xfrm>
          <a:prstGeom prst="rect">
            <a:avLst/>
          </a:prstGeom>
          <a:solidFill>
            <a:srgbClr val="FFFFFF">
              <a:alpha val="941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5"/>
          <p:cNvSpPr/>
          <p:nvPr/>
        </p:nvSpPr>
        <p:spPr>
          <a:xfrm>
            <a:off x="4434651" y="1033910"/>
            <a:ext cx="346200" cy="346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8" name="Google Shape;198;p5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42800" y="1142059"/>
            <a:ext cx="129778" cy="129778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5"/>
          <p:cNvSpPr/>
          <p:nvPr/>
        </p:nvSpPr>
        <p:spPr>
          <a:xfrm>
            <a:off x="3756928" y="1466504"/>
            <a:ext cx="17556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Precisão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5"/>
          <p:cNvSpPr/>
          <p:nvPr/>
        </p:nvSpPr>
        <p:spPr>
          <a:xfrm>
            <a:off x="3756928" y="1682800"/>
            <a:ext cx="1755600" cy="21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Eliminação de erros manuais com tecnologia de ponta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5"/>
          <p:cNvSpPr/>
          <p:nvPr/>
        </p:nvSpPr>
        <p:spPr>
          <a:xfrm>
            <a:off x="5761286" y="904132"/>
            <a:ext cx="1961100" cy="1124700"/>
          </a:xfrm>
          <a:prstGeom prst="rect">
            <a:avLst/>
          </a:prstGeom>
          <a:solidFill>
            <a:srgbClr val="FFFFFF">
              <a:alpha val="941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5"/>
          <p:cNvSpPr/>
          <p:nvPr/>
        </p:nvSpPr>
        <p:spPr>
          <a:xfrm>
            <a:off x="6568786" y="1033910"/>
            <a:ext cx="346200" cy="3462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3" name="Google Shape;203;p5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76934" y="1142059"/>
            <a:ext cx="129778" cy="129778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5"/>
          <p:cNvSpPr/>
          <p:nvPr/>
        </p:nvSpPr>
        <p:spPr>
          <a:xfrm>
            <a:off x="5891064" y="1466504"/>
            <a:ext cx="1755600" cy="1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Montserrat"/>
              <a:buNone/>
            </a:pPr>
            <a:r>
              <a:rPr lang="en-US" sz="1125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Controle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5"/>
          <p:cNvSpPr/>
          <p:nvPr/>
        </p:nvSpPr>
        <p:spPr>
          <a:xfrm>
            <a:off x="5891064" y="1682800"/>
            <a:ext cx="1755600" cy="21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88"/>
              <a:buFont typeface="Open Sans"/>
              <a:buNone/>
            </a:pPr>
            <a:r>
              <a:rPr lang="en-US" sz="788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Maior segurança e rastreabilidade das informações fiscais</a:t>
            </a:r>
            <a:endParaRPr sz="7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5"/>
          <p:cNvSpPr/>
          <p:nvPr/>
        </p:nvSpPr>
        <p:spPr>
          <a:xfrm>
            <a:off x="1493025" y="2284200"/>
            <a:ext cx="6229500" cy="1124700"/>
          </a:xfrm>
          <a:prstGeom prst="rect">
            <a:avLst/>
          </a:prstGeom>
          <a:solidFill>
            <a:srgbClr val="FFFFFF">
              <a:alpha val="9411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5"/>
          <p:cNvSpPr/>
          <p:nvPr/>
        </p:nvSpPr>
        <p:spPr>
          <a:xfrm>
            <a:off x="3217342" y="2376163"/>
            <a:ext cx="3084000" cy="2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87"/>
              <a:buFont typeface="Montserrat"/>
              <a:buNone/>
            </a:pPr>
            <a:r>
              <a:rPr lang="en-US" sz="1687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Critérios de Sucesso</a:t>
            </a:r>
            <a:endParaRPr sz="1687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8" name="Google Shape;208;p5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070472" y="2844288"/>
            <a:ext cx="119649" cy="119649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5"/>
          <p:cNvSpPr/>
          <p:nvPr/>
        </p:nvSpPr>
        <p:spPr>
          <a:xfrm>
            <a:off x="2261897" y="2832325"/>
            <a:ext cx="2172600" cy="1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Precisão na extração superior a 95%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0" name="Google Shape;210;p5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070472" y="3083586"/>
            <a:ext cx="119649" cy="119649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5"/>
          <p:cNvSpPr/>
          <p:nvPr/>
        </p:nvSpPr>
        <p:spPr>
          <a:xfrm>
            <a:off x="2261896" y="3071625"/>
            <a:ext cx="2039700" cy="1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Interface intuitiva e fácil de usar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2" name="Google Shape;212;p5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20642" y="2844288"/>
            <a:ext cx="119649" cy="119649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"/>
          <p:cNvSpPr/>
          <p:nvPr/>
        </p:nvSpPr>
        <p:spPr>
          <a:xfrm>
            <a:off x="5612073" y="2832325"/>
            <a:ext cx="1961100" cy="1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Integração com fontes oficiais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4" name="Google Shape;214;p5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20642" y="3083586"/>
            <a:ext cx="119649" cy="119649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5"/>
          <p:cNvSpPr/>
          <p:nvPr/>
        </p:nvSpPr>
        <p:spPr>
          <a:xfrm>
            <a:off x="5612073" y="3071625"/>
            <a:ext cx="2039700" cy="1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Adaptação a diferentes formatos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5"/>
          <p:cNvSpPr/>
          <p:nvPr/>
        </p:nvSpPr>
        <p:spPr>
          <a:xfrm>
            <a:off x="3373123" y="3518600"/>
            <a:ext cx="25179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87"/>
              <a:buFont typeface="Montserrat"/>
              <a:buNone/>
            </a:pPr>
            <a:r>
              <a:rPr lang="en-US" sz="1687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Próximos </a:t>
            </a:r>
            <a:r>
              <a:rPr lang="en-US" sz="1687" b="1" i="0" u="none" strike="noStrike" cap="none">
                <a:solidFill>
                  <a:schemeClr val="accent6"/>
                </a:solidFill>
                <a:latin typeface="Montserrat"/>
                <a:ea typeface="Montserrat"/>
                <a:cs typeface="Montserrat"/>
                <a:sym typeface="Montserrat"/>
              </a:rPr>
              <a:t>Passos</a:t>
            </a:r>
            <a:endParaRPr sz="1687" b="0" i="0" u="none" strike="noStrike" cap="none">
              <a:solidFill>
                <a:schemeClr val="accent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5"/>
          <p:cNvSpPr/>
          <p:nvPr/>
        </p:nvSpPr>
        <p:spPr>
          <a:xfrm>
            <a:off x="2362537" y="3837943"/>
            <a:ext cx="244800" cy="2448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5"/>
          <p:cNvSpPr/>
          <p:nvPr/>
        </p:nvSpPr>
        <p:spPr>
          <a:xfrm>
            <a:off x="2435482" y="3898265"/>
            <a:ext cx="103200" cy="1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5"/>
          <p:cNvSpPr/>
          <p:nvPr/>
        </p:nvSpPr>
        <p:spPr>
          <a:xfrm>
            <a:off x="1796475" y="4143921"/>
            <a:ext cx="1428000" cy="1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Desenvolvimento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5"/>
          <p:cNvSpPr/>
          <p:nvPr/>
        </p:nvSpPr>
        <p:spPr>
          <a:xfrm>
            <a:off x="1796475" y="4307110"/>
            <a:ext cx="1428000" cy="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75"/>
              <a:buFont typeface="Open Sans"/>
              <a:buNone/>
            </a:pPr>
            <a:r>
              <a:rPr lang="en-US" sz="675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MVP e testes iniciais</a:t>
            </a:r>
            <a:endParaRPr sz="67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5"/>
          <p:cNvSpPr/>
          <p:nvPr/>
        </p:nvSpPr>
        <p:spPr>
          <a:xfrm>
            <a:off x="3861836" y="3837943"/>
            <a:ext cx="244800" cy="24480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5"/>
          <p:cNvSpPr/>
          <p:nvPr/>
        </p:nvSpPr>
        <p:spPr>
          <a:xfrm>
            <a:off x="3939442" y="3893602"/>
            <a:ext cx="103200" cy="1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2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5"/>
          <p:cNvSpPr/>
          <p:nvPr/>
        </p:nvSpPr>
        <p:spPr>
          <a:xfrm>
            <a:off x="3267801" y="4143921"/>
            <a:ext cx="1428000" cy="1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Piloto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5"/>
          <p:cNvSpPr/>
          <p:nvPr/>
        </p:nvSpPr>
        <p:spPr>
          <a:xfrm>
            <a:off x="3295774" y="4307110"/>
            <a:ext cx="1428000" cy="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75"/>
              <a:buFont typeface="Open Sans"/>
              <a:buNone/>
            </a:pPr>
            <a:r>
              <a:rPr lang="en-US" sz="675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Teste com clientes selecionados</a:t>
            </a:r>
            <a:endParaRPr sz="67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5"/>
          <p:cNvSpPr/>
          <p:nvPr/>
        </p:nvSpPr>
        <p:spPr>
          <a:xfrm>
            <a:off x="5361134" y="3837943"/>
            <a:ext cx="244800" cy="2448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5"/>
          <p:cNvSpPr/>
          <p:nvPr/>
        </p:nvSpPr>
        <p:spPr>
          <a:xfrm>
            <a:off x="5438742" y="3893602"/>
            <a:ext cx="103200" cy="1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3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5"/>
          <p:cNvSpPr/>
          <p:nvPr/>
        </p:nvSpPr>
        <p:spPr>
          <a:xfrm>
            <a:off x="4781086" y="4143921"/>
            <a:ext cx="1428000" cy="1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Refinamento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5"/>
          <p:cNvSpPr/>
          <p:nvPr/>
        </p:nvSpPr>
        <p:spPr>
          <a:xfrm>
            <a:off x="4795072" y="4307110"/>
            <a:ext cx="1428000" cy="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75"/>
              <a:buFont typeface="Open Sans"/>
              <a:buNone/>
            </a:pPr>
            <a:r>
              <a:rPr lang="en-US" sz="675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Ajustes baseados no feedback</a:t>
            </a:r>
            <a:endParaRPr sz="67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5"/>
          <p:cNvSpPr/>
          <p:nvPr/>
        </p:nvSpPr>
        <p:spPr>
          <a:xfrm>
            <a:off x="6860433" y="3837943"/>
            <a:ext cx="244800" cy="24480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5"/>
          <p:cNvSpPr/>
          <p:nvPr/>
        </p:nvSpPr>
        <p:spPr>
          <a:xfrm>
            <a:off x="6933378" y="3891124"/>
            <a:ext cx="103200" cy="1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4</a:t>
            </a:r>
            <a:endParaRPr sz="1013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5"/>
          <p:cNvSpPr/>
          <p:nvPr/>
        </p:nvSpPr>
        <p:spPr>
          <a:xfrm>
            <a:off x="6271060" y="4143921"/>
            <a:ext cx="1428000" cy="1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Lançamento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5"/>
          <p:cNvSpPr/>
          <p:nvPr/>
        </p:nvSpPr>
        <p:spPr>
          <a:xfrm>
            <a:off x="6294371" y="4307110"/>
            <a:ext cx="1428000" cy="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75"/>
              <a:buFont typeface="Open Sans"/>
              <a:buNone/>
            </a:pPr>
            <a:r>
              <a:rPr lang="en-US" sz="675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Disponibilização comercial</a:t>
            </a:r>
            <a:endParaRPr sz="67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5"/>
          <p:cNvSpPr/>
          <p:nvPr/>
        </p:nvSpPr>
        <p:spPr>
          <a:xfrm>
            <a:off x="2751875" y="4475700"/>
            <a:ext cx="3816900" cy="59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5"/>
          <p:cNvSpPr/>
          <p:nvPr/>
        </p:nvSpPr>
        <p:spPr>
          <a:xfrm>
            <a:off x="3314260" y="4507009"/>
            <a:ext cx="2890200" cy="16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ontserrat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Vamos Transformar Juntos!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5"/>
          <p:cNvSpPr/>
          <p:nvPr/>
        </p:nvSpPr>
        <p:spPr>
          <a:xfrm>
            <a:off x="2751875" y="4709600"/>
            <a:ext cx="37632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Automatize seus processos fiscais e economize</a:t>
            </a:r>
            <a:endParaRPr sz="1013" b="0" i="0" u="none" strike="noStrike" cap="non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13"/>
              <a:buFont typeface="Open Sans"/>
              <a:buNone/>
            </a:pPr>
            <a:r>
              <a:rPr lang="en-US" sz="1013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centenas de horas</a:t>
            </a:r>
            <a:endParaRPr sz="1013" b="0" i="0" u="none" strike="noStrike" cap="non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36" name="Google Shape;236;p5"/>
          <p:cNvSpPr/>
          <p:nvPr/>
        </p:nvSpPr>
        <p:spPr>
          <a:xfrm>
            <a:off x="7315200" y="-914400"/>
            <a:ext cx="2743200" cy="2743200"/>
          </a:xfrm>
          <a:prstGeom prst="ellipse">
            <a:avLst/>
          </a:prstGeom>
          <a:solidFill>
            <a:srgbClr val="FFFFFF">
              <a:alpha val="4705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5"/>
          <p:cNvSpPr/>
          <p:nvPr/>
        </p:nvSpPr>
        <p:spPr>
          <a:xfrm>
            <a:off x="-457200" y="3771900"/>
            <a:ext cx="1828800" cy="1828800"/>
          </a:xfrm>
          <a:prstGeom prst="ellipse">
            <a:avLst/>
          </a:prstGeom>
          <a:solidFill>
            <a:srgbClr val="FFFFFF">
              <a:alpha val="4705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8"/>
          <p:cNvSpPr/>
          <p:nvPr/>
        </p:nvSpPr>
        <p:spPr>
          <a:xfrm>
            <a:off x="2452488" y="212924"/>
            <a:ext cx="4239023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Arquitetura da solução</a:t>
            </a:r>
            <a:endParaRPr sz="27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8"/>
          <p:cNvSpPr/>
          <p:nvPr/>
        </p:nvSpPr>
        <p:spPr>
          <a:xfrm>
            <a:off x="7315200" y="-914400"/>
            <a:ext cx="2743200" cy="2743200"/>
          </a:xfrm>
          <a:prstGeom prst="ellipse">
            <a:avLst/>
          </a:prstGeom>
          <a:solidFill>
            <a:schemeClr val="accent1">
              <a:alpha val="4705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8"/>
          <p:cNvSpPr/>
          <p:nvPr/>
        </p:nvSpPr>
        <p:spPr>
          <a:xfrm>
            <a:off x="-457200" y="3771900"/>
            <a:ext cx="1828800" cy="1828800"/>
          </a:xfrm>
          <a:prstGeom prst="ellipse">
            <a:avLst/>
          </a:prstGeom>
          <a:solidFill>
            <a:schemeClr val="accent1">
              <a:alpha val="4705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6" name="Google Shape;246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666" y="1171785"/>
            <a:ext cx="8265240" cy="29208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3763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9"/>
          <p:cNvSpPr/>
          <p:nvPr/>
        </p:nvSpPr>
        <p:spPr>
          <a:xfrm>
            <a:off x="2347876" y="254177"/>
            <a:ext cx="4448247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Modelo capaz de extrair:</a:t>
            </a:r>
            <a:endParaRPr sz="27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3" name="Google Shape;253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84421" y="1074607"/>
            <a:ext cx="2505075" cy="1619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984421" y="2814029"/>
            <a:ext cx="2505075" cy="1724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5" name="Google Shape;255;p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680748" y="1069844"/>
            <a:ext cx="2514600" cy="1628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" name="Google Shape;256;p9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680748" y="2823553"/>
            <a:ext cx="2495550" cy="1704975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9"/>
          <p:cNvSpPr/>
          <p:nvPr/>
        </p:nvSpPr>
        <p:spPr>
          <a:xfrm>
            <a:off x="1930606" y="1069843"/>
            <a:ext cx="52197" cy="161924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9"/>
          <p:cNvSpPr/>
          <p:nvPr/>
        </p:nvSpPr>
        <p:spPr>
          <a:xfrm>
            <a:off x="1944842" y="2814029"/>
            <a:ext cx="45719" cy="172402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9"/>
          <p:cNvSpPr/>
          <p:nvPr/>
        </p:nvSpPr>
        <p:spPr>
          <a:xfrm>
            <a:off x="4628551" y="1069843"/>
            <a:ext cx="52197" cy="162877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9"/>
          <p:cNvSpPr/>
          <p:nvPr/>
        </p:nvSpPr>
        <p:spPr>
          <a:xfrm>
            <a:off x="4628551" y="2823552"/>
            <a:ext cx="52197" cy="170497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9"/>
          <p:cNvSpPr/>
          <p:nvPr/>
        </p:nvSpPr>
        <p:spPr>
          <a:xfrm rot="-5400000">
            <a:off x="3582776" y="-617423"/>
            <a:ext cx="52197" cy="2521997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0"/>
          <p:cNvSpPr/>
          <p:nvPr/>
        </p:nvSpPr>
        <p:spPr>
          <a:xfrm>
            <a:off x="1545458" y="226937"/>
            <a:ext cx="6053084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Interface </a:t>
            </a:r>
            <a:r>
              <a:rPr lang="en-US" sz="2700" b="1" i="0" u="none" strike="noStrike" cap="none">
                <a:solidFill>
                  <a:srgbClr val="27AE60"/>
                </a:solidFill>
                <a:latin typeface="Montserrat"/>
                <a:ea typeface="Montserrat"/>
                <a:cs typeface="Montserrat"/>
                <a:sym typeface="Montserrat"/>
              </a:rPr>
              <a:t>para envio e consulta</a:t>
            </a:r>
            <a:endParaRPr sz="2700" b="0" i="0" u="none" strike="noStrike" cap="none">
              <a:solidFill>
                <a:srgbClr val="27AE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0"/>
          <p:cNvSpPr/>
          <p:nvPr/>
        </p:nvSpPr>
        <p:spPr>
          <a:xfrm>
            <a:off x="129943" y="1378146"/>
            <a:ext cx="1098568" cy="519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0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Exemplo:</a:t>
            </a:r>
            <a:br>
              <a:rPr lang="en-US" sz="1125" b="0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-US" sz="1125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carga de NF-e em PDF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0"/>
          <p:cNvSpPr/>
          <p:nvPr/>
        </p:nvSpPr>
        <p:spPr>
          <a:xfrm>
            <a:off x="7693014" y="1378146"/>
            <a:ext cx="1186695" cy="519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0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Exemplo:</a:t>
            </a:r>
            <a:br>
              <a:rPr lang="en-US" sz="1125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-US" sz="1125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carga de NFS-e em imagem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0" name="Google Shape;270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21289" y="915469"/>
            <a:ext cx="3138170" cy="391541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1" name="Google Shape;271;p1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10644" y="915469"/>
            <a:ext cx="3131185" cy="40011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1"/>
          <p:cNvSpPr/>
          <p:nvPr/>
        </p:nvSpPr>
        <p:spPr>
          <a:xfrm>
            <a:off x="1545458" y="226937"/>
            <a:ext cx="6053084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2700"/>
              <a:buFont typeface="Montserrat"/>
              <a:buNone/>
            </a:pPr>
            <a:r>
              <a:rPr lang="en-US" sz="2700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Interface </a:t>
            </a:r>
            <a:r>
              <a:rPr lang="en-US" sz="2700" b="1" i="0" u="none" strike="noStrike" cap="none">
                <a:solidFill>
                  <a:srgbClr val="27AE60"/>
                </a:solidFill>
                <a:latin typeface="Montserrat"/>
                <a:ea typeface="Montserrat"/>
                <a:cs typeface="Montserrat"/>
                <a:sym typeface="Montserrat"/>
              </a:rPr>
              <a:t>para envio e consulta</a:t>
            </a:r>
            <a:endParaRPr sz="2700" b="0" i="0" u="none" strike="noStrike" cap="none">
              <a:solidFill>
                <a:srgbClr val="27AE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1"/>
          <p:cNvSpPr/>
          <p:nvPr/>
        </p:nvSpPr>
        <p:spPr>
          <a:xfrm>
            <a:off x="6279850" y="1378146"/>
            <a:ext cx="1186695" cy="519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125"/>
              <a:buFont typeface="Montserrat"/>
              <a:buNone/>
            </a:pPr>
            <a:r>
              <a:rPr lang="en-US" sz="1125" b="0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Exemplo:</a:t>
            </a:r>
            <a:br>
              <a:rPr lang="en-US" sz="1125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-US" sz="1125" b="1" i="0" u="none" strike="noStrike" cap="none">
                <a:solidFill>
                  <a:srgbClr val="1A365D"/>
                </a:solidFill>
                <a:latin typeface="Montserrat"/>
                <a:ea typeface="Montserrat"/>
                <a:cs typeface="Montserrat"/>
                <a:sym typeface="Montserrat"/>
              </a:rPr>
              <a:t>carga de CT-e em imagem</a:t>
            </a:r>
            <a:endParaRPr sz="11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9" name="Google Shape;279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968336" y="771635"/>
            <a:ext cx="3207327" cy="41449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3763"/>
        </a:solidFill>
        <a:effectLst/>
      </p:bgPr>
    </p:bg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12"/>
          <p:cNvSpPr/>
          <p:nvPr/>
        </p:nvSpPr>
        <p:spPr>
          <a:xfrm>
            <a:off x="5248255" y="1220459"/>
            <a:ext cx="2912776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2700"/>
              <a:buFont typeface="Montserrat"/>
              <a:buNone/>
            </a:pPr>
            <a:r>
              <a:rPr lang="en-US" sz="12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Integrantes do grupo:</a:t>
            </a:r>
            <a:endParaRPr sz="12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2"/>
          <p:cNvSpPr/>
          <p:nvPr/>
        </p:nvSpPr>
        <p:spPr>
          <a:xfrm>
            <a:off x="5248255" y="2155094"/>
            <a:ext cx="3058248" cy="15234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Antonio João Nascimento Dantas</a:t>
            </a:r>
            <a:endParaRPr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Daniel Correa Rodrigues</a:t>
            </a:r>
            <a:endParaRPr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Eduarda Silveira Cardoso</a:t>
            </a:r>
            <a:endParaRPr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Lorrane da F C Santos Santana</a:t>
            </a:r>
            <a:endParaRPr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Luciane Schumacher</a:t>
            </a:r>
            <a:endParaRPr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Valdinei de Souza Camargo</a:t>
            </a:r>
            <a:endParaRPr/>
          </a:p>
        </p:txBody>
      </p:sp>
      <p:cxnSp>
        <p:nvCxnSpPr>
          <p:cNvPr id="287" name="Google Shape;287;p12"/>
          <p:cNvCxnSpPr/>
          <p:nvPr/>
        </p:nvCxnSpPr>
        <p:spPr>
          <a:xfrm>
            <a:off x="4565073" y="1073727"/>
            <a:ext cx="0" cy="3228109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8" name="Google Shape;288;p12"/>
          <p:cNvSpPr/>
          <p:nvPr/>
        </p:nvSpPr>
        <p:spPr>
          <a:xfrm>
            <a:off x="837497" y="2312063"/>
            <a:ext cx="2691410" cy="519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75"/>
              <a:buFont typeface="Montserrat"/>
              <a:buNone/>
            </a:pPr>
            <a:r>
              <a:rPr lang="en-US" sz="3375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Agente NFe</a:t>
            </a:r>
            <a:endParaRPr sz="337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415</Words>
  <Application>Microsoft Office PowerPoint</Application>
  <PresentationFormat>Apresentação na tela (16:9)</PresentationFormat>
  <Paragraphs>133</Paragraphs>
  <Slides>10</Slides>
  <Notes>10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5" baseType="lpstr">
      <vt:lpstr>Arial</vt:lpstr>
      <vt:lpstr>Montserrat</vt:lpstr>
      <vt:lpstr>Open Sans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PptxGenJS</dc:creator>
  <cp:lastModifiedBy>Antonio Dantas</cp:lastModifiedBy>
  <cp:revision>1</cp:revision>
  <dcterms:created xsi:type="dcterms:W3CDTF">2025-06-06T01:48:02Z</dcterms:created>
  <dcterms:modified xsi:type="dcterms:W3CDTF">2025-11-01T18:17:53Z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 Theme:3</vt:lpwstr>
  </property>
  <property fmtid="{D5CDD505-2E9C-101B-9397-08002B2CF9AE}" pid="3" name="ClassificationContentMarkingFooterText">
    <vt:lpwstr>Público</vt:lpwstr>
  </property>
</Properties>
</file>