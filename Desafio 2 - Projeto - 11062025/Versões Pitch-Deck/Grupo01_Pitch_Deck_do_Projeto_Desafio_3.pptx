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A6guGlN7WrxfpXcjI7GTyAJIb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E60"/>
    <a:srgbClr val="07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57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568D352-F172-F3C9-F664-26463A76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0944486E-B0B5-9319-8035-E786DDA73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4906A949-80F6-1267-52F6-D4CC23B78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BAD672DA-83D0-A3CE-447C-96556B34C6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6088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8F699A1-FA75-2F20-50F3-937B9765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3E940166-5C4E-0502-7F6C-3B32C11688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C7E7E090-911D-6A04-ADEA-95969AEB2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E7165CF-2F35-0745-CE76-743969DC71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7415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F3AB871-9F08-CE62-FB1B-7F2395B0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4A74C78F-B78C-430A-20E0-789B85C69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37F8116-5E52-8ED5-3594-28DB49E942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1B550AC7-9B02-BB1C-14FA-51CB32DEDD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99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8A00C7E-EC30-034E-23C1-A6705E4C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98D9C06E-0FBC-5E77-2934-73593A9E9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81F44925-E0D4-2F7D-9B5C-15713E8D3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9C2AFE6-1906-425F-8070-F69D0A0726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4835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90EB681-6ECA-8C20-8191-A6029BFF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46655509-F12C-42A9-0B4E-26ECBDCF9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3B387CC1-A0C1-10B5-0F75-AB589D547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750816DB-A6F7-E6CB-EE89-80DC554274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1594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D539B1A-F5E2-244F-89A8-D3BCF19F9C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04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3005733" y="1051917"/>
            <a:ext cx="1403747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75"/>
              <a:buFont typeface="Montserrat"/>
              <a:buNone/>
            </a:pPr>
            <a:r>
              <a:rPr lang="en-US" sz="337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NF AI</a:t>
            </a:r>
            <a:endParaRPr sz="33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338042" y="1051917"/>
            <a:ext cx="1871663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375"/>
              <a:buFont typeface="Montserrat"/>
              <a:buNone/>
            </a:pPr>
            <a:r>
              <a:rPr lang="en-US" sz="3375" b="1" i="0" u="none" strike="noStrike" cap="none" dirty="0" err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Extrator</a:t>
            </a:r>
            <a:endParaRPr sz="33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600200" y="1762430"/>
            <a:ext cx="601503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350"/>
              <a:buFont typeface="Montserrat"/>
              <a:buNone/>
            </a:pPr>
            <a:r>
              <a:rPr lang="en-US" sz="1350" b="1" i="0" u="none" strike="noStrike" cap="none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Automatizando</a:t>
            </a:r>
            <a:r>
              <a:rPr lang="en-US" sz="1350" b="1" i="0" u="none" strike="noStrike" cap="none" dirty="0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1350" b="1" i="0" u="none" strike="noStrike" cap="none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Extração</a:t>
            </a:r>
            <a:r>
              <a:rPr lang="en-US" sz="1350" b="1" i="0" u="none" strike="noStrike" cap="none" dirty="0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 de Dados </a:t>
            </a:r>
            <a:r>
              <a:rPr lang="en-US" sz="1350" b="1" i="0" u="none" strike="noStrike" cap="none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Fiscais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600200" y="2209205"/>
            <a:ext cx="5943600" cy="1203722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8353" y="2437805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296966" y="2444948"/>
            <a:ext cx="95011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Problema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991320" y="2782491"/>
            <a:ext cx="1376958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Empresas processam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77192" y="2792063"/>
            <a:ext cx="985847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manualmente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287910" y="2787598"/>
            <a:ext cx="2980730" cy="155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grandes volumes de documentos fiscais, gerando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700463" y="2991445"/>
            <a:ext cx="775097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ineficiência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404122" y="2991445"/>
            <a:ext cx="210741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543425" y="2991445"/>
            <a:ext cx="971550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erros custosos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6050" y="3664744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2957513" y="3623667"/>
            <a:ext cx="1092994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Centenas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686050" y="3955852"/>
            <a:ext cx="136445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Horas perdidas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1969" y="3664744"/>
            <a:ext cx="214313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4593431" y="3623667"/>
            <a:ext cx="541139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Alto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321969" y="3955852"/>
            <a:ext cx="81260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Índice de erros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08712" y="3664744"/>
            <a:ext cx="241102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"/>
          <p:cNvSpPr/>
          <p:nvPr/>
        </p:nvSpPr>
        <p:spPr>
          <a:xfrm>
            <a:off x="5706963" y="3623667"/>
            <a:ext cx="819745" cy="2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Open Sans"/>
              <a:buNone/>
            </a:pPr>
            <a:r>
              <a:rPr lang="en-US" sz="1687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Custos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406033" y="3955852"/>
            <a:ext cx="112335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Operacionais elevados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2351187" y="191095"/>
            <a:ext cx="255567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Arquitetura 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35426" y="191095"/>
            <a:ext cx="2028825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Tecnologia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334681" y="957270"/>
            <a:ext cx="948300" cy="428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8981" y="108585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1684724" y="1071570"/>
            <a:ext cx="555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Usuário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480" y="1463495"/>
            <a:ext cx="160734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457200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523991" y="193833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66" y="20812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628650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1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28650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Aquisição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28650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Obtém documentos fiscais via upload manual ou download de órgãos governamentais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76581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343372" y="193833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6247" y="20812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3448031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2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448031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Extração &amp; Aprendizado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448031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Processa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documentos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com OCR e LLM,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aprendendo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novos</a:t>
            </a:r>
            <a:r>
              <a:rPr lang="en-US" sz="788" dirty="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 layouts </a:t>
            </a:r>
            <a:r>
              <a:rPr lang="en-US" sz="788" dirty="0" err="1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automaticamente</a:t>
            </a:r>
            <a:endParaRPr sz="78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095991" y="1766888"/>
            <a:ext cx="2590800" cy="174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162781" y="193833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4225" y="208121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6267441" y="2509838"/>
            <a:ext cx="231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Agente 3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267441" y="2795588"/>
            <a:ext cx="23193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D97706"/>
                </a:solidFill>
                <a:latin typeface="Open Sans"/>
                <a:ea typeface="Open Sans"/>
                <a:cs typeface="Open Sans"/>
                <a:sym typeface="Open Sans"/>
              </a:rPr>
              <a:t>Resposta &amp; Interação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267441" y="3024188"/>
            <a:ext cx="2319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Responde perguntas dos usuários usando a base de conhecimento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629025" y="3773899"/>
            <a:ext cx="1886100" cy="4287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43325" y="3990975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3979069" y="3888199"/>
            <a:ext cx="14931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Conhecimento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512939" y="4257211"/>
            <a:ext cx="1171575" cy="20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350"/>
              <a:buFont typeface="Montserrat"/>
              <a:buNone/>
            </a:pPr>
            <a:r>
              <a:rPr lang="en-US" sz="1350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Tecnologias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1972" y="4252456"/>
            <a:ext cx="99065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50"/>
              <a:buFont typeface="Montserrat"/>
              <a:buNone/>
            </a:pPr>
            <a:r>
              <a:rPr lang="en-US" sz="1350" b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  Utilizadas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836165" y="4487967"/>
            <a:ext cx="332184" cy="3429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21890" y="4577263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3800446" y="4871285"/>
            <a:ext cx="403622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OCR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396950" y="4487967"/>
            <a:ext cx="350044" cy="3429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64816" y="458673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4361231" y="4871285"/>
            <a:ext cx="4214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LLM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975593" y="4487967"/>
            <a:ext cx="350044" cy="3429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43459" y="458673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4939874" y="4871285"/>
            <a:ext cx="42148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8"/>
              <a:buFont typeface="Open Sans"/>
              <a:buNone/>
            </a:pPr>
            <a:r>
              <a:rPr lang="en-US" sz="788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7429500" y="-571500"/>
            <a:ext cx="2286000" cy="2286000"/>
          </a:xfrm>
          <a:prstGeom prst="ellipse">
            <a:avLst/>
          </a:prstGeom>
          <a:solidFill>
            <a:srgbClr val="DBEAFE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-285750" y="3714750"/>
            <a:ext cx="1714500" cy="1714500"/>
          </a:xfrm>
          <a:prstGeom prst="ellipse">
            <a:avLst/>
          </a:prstGeom>
          <a:solidFill>
            <a:srgbClr val="D1FAE5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800100" y="1219795"/>
            <a:ext cx="1244798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Nossa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973461" y="1219795"/>
            <a:ext cx="1494830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00100" y="1771650"/>
            <a:ext cx="3543300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00100" y="1771650"/>
            <a:ext cx="28575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550" y="195738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1271588" y="1943100"/>
            <a:ext cx="174843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Sistema Automatizado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71550" y="2236000"/>
            <a:ext cx="32106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Extração inteligente de dados fiscais usando OCR e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71550" y="2407444"/>
            <a:ext cx="1205508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Inteligência Artificial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00100" y="2914650"/>
            <a:ext cx="3543300" cy="97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800100" y="2914650"/>
            <a:ext cx="28575" cy="9715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550" y="310038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1228725" y="3086100"/>
            <a:ext cx="17198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Adaptação Inteligente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71550" y="3378994"/>
            <a:ext cx="1300163" cy="155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Aprende e se adapta 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200275" y="3387433"/>
            <a:ext cx="115897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diferentes formatos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71538" y="3471871"/>
            <a:ext cx="326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>
              <a:solidFill>
                <a:srgbClr val="37415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de documentos fiscais automaticamente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425678" y="926902"/>
            <a:ext cx="1212652" cy="260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Principais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555008" y="927400"/>
            <a:ext cx="1247136" cy="25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 Benefícios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800600" y="1414463"/>
            <a:ext cx="3543300" cy="5715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914900" y="1528763"/>
            <a:ext cx="314325" cy="3429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0625" y="161805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5343525" y="1543050"/>
            <a:ext cx="156626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Economia de Tempo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343525" y="1714500"/>
            <a:ext cx="156626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Processamento 10x mais rápido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00600" y="2157413"/>
            <a:ext cx="3543300" cy="5715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914900" y="2271713"/>
            <a:ext cx="314325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00625" y="236100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5343525" y="2286000"/>
            <a:ext cx="1191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Redução de Erros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343525" y="2457450"/>
            <a:ext cx="119122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Precisão superior a 95%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00600" y="2900363"/>
            <a:ext cx="3543300" cy="5715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4914900" y="3014663"/>
            <a:ext cx="296466" cy="3429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00625" y="3103959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5325666" y="3028950"/>
            <a:ext cx="13037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Organização de Dados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325666" y="3200400"/>
            <a:ext cx="130373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Estruturação automática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00600" y="3643313"/>
            <a:ext cx="3543300" cy="5715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914900" y="3757613"/>
            <a:ext cx="314325" cy="3429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00625" y="384690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5343525" y="3771900"/>
            <a:ext cx="129659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1A365D"/>
                </a:solidFill>
                <a:latin typeface="Open Sans"/>
                <a:ea typeface="Open Sans"/>
                <a:cs typeface="Open Sans"/>
                <a:sym typeface="Open Sans"/>
              </a:rPr>
              <a:t>Consultas Inteligentes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343525" y="3943350"/>
            <a:ext cx="1296591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Interface conversacional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2044898" y="191095"/>
            <a:ext cx="2755702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Público-Alvo e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729163" y="191095"/>
            <a:ext cx="244137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Casos de Uso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38050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38050" y="800100"/>
            <a:ext cx="25200" cy="138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829696" y="951516"/>
            <a:ext cx="504600" cy="504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076" y="1109240"/>
            <a:ext cx="141949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1089463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Contabilidade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89463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Profissionais que processam grandes volumes de documentos fiscais diariamente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427935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427935" y="800100"/>
            <a:ext cx="25200" cy="138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319582" y="951516"/>
            <a:ext cx="504600" cy="50460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42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7304" y="1109240"/>
            <a:ext cx="189266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3579348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Finanças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579348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Equipes financeiras que precisam de dados precisos para análises e relatórios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917846" y="800100"/>
            <a:ext cx="2288100" cy="138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917846" y="800100"/>
            <a:ext cx="25200" cy="138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809492" y="951516"/>
            <a:ext cx="504600" cy="504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3555" y="1109240"/>
            <a:ext cx="236583" cy="189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6069259" y="1557178"/>
            <a:ext cx="20484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Tecnologia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069259" y="1784301"/>
            <a:ext cx="20484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Desenvolvedores e analistas focados em automação de processos fiscais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63250" y="2376950"/>
            <a:ext cx="7242600" cy="174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535901" y="2495250"/>
            <a:ext cx="21561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Caso de Uso: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171575" y="2494688"/>
            <a:ext cx="20484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4A90E2"/>
                </a:solidFill>
                <a:latin typeface="Montserrat"/>
                <a:ea typeface="Montserrat"/>
                <a:cs typeface="Montserrat"/>
                <a:sym typeface="Montserrat"/>
              </a:rPr>
              <a:t>Setor Varejista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414201" y="2776232"/>
            <a:ext cx="29730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9334" y="2922625"/>
            <a:ext cx="152023" cy="1351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/>
          <p:nvPr/>
        </p:nvSpPr>
        <p:spPr>
          <a:xfrm>
            <a:off x="1768926" y="2911375"/>
            <a:ext cx="15162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Cenário Atual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181629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/>
          <p:nvPr/>
        </p:nvSpPr>
        <p:spPr>
          <a:xfrm>
            <a:off x="1650672" y="3159100"/>
            <a:ext cx="19335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Milhares de notas fiscais por dia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361805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/>
          <p:nvPr/>
        </p:nvSpPr>
        <p:spPr>
          <a:xfrm>
            <a:off x="1650672" y="3339275"/>
            <a:ext cx="20484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Processamento manual demorado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541981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1650671" y="3519450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Alto índice de erros humanos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49334" y="3722158"/>
            <a:ext cx="56306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1650671" y="3699625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Custos operacionais elevados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567288" y="2776232"/>
            <a:ext cx="2973000" cy="119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02420" y="2922625"/>
            <a:ext cx="135132" cy="1351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/>
          <p:nvPr/>
        </p:nvSpPr>
        <p:spPr>
          <a:xfrm>
            <a:off x="4905130" y="2911375"/>
            <a:ext cx="2156100" cy="1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Com Nossa Solução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181629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/>
          <p:nvPr/>
        </p:nvSpPr>
        <p:spPr>
          <a:xfrm>
            <a:off x="4837549" y="3159100"/>
            <a:ext cx="2156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Processamento automático 24/7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361805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/>
          <p:nvPr/>
        </p:nvSpPr>
        <p:spPr>
          <a:xfrm>
            <a:off x="4837547" y="3339275"/>
            <a:ext cx="19335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Centenas de horas economizada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541981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/>
          <p:nvPr/>
        </p:nvSpPr>
        <p:spPr>
          <a:xfrm>
            <a:off x="4837547" y="3519450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Precisão superior a 95%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02420" y="3722158"/>
            <a:ext cx="90088" cy="90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/>
          <p:nvPr/>
        </p:nvSpPr>
        <p:spPr>
          <a:xfrm>
            <a:off x="4837546" y="3699625"/>
            <a:ext cx="1889100" cy="1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ROI positivo em 3 meses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020275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1160900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2025"/>
              <a:buFont typeface="Open Sans"/>
              <a:buNone/>
            </a:pPr>
            <a:r>
              <a:rPr lang="en-US" sz="2025" b="1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10x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1160900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Mais rápido que processamento manual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551525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692150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25"/>
              <a:buFont typeface="Open Sans"/>
              <a:buNone/>
            </a:pPr>
            <a:r>
              <a:rPr lang="en-US" sz="2025" b="1">
                <a:solidFill>
                  <a:srgbClr val="27AE60"/>
                </a:solidFill>
                <a:latin typeface="Open Sans"/>
                <a:ea typeface="Open Sans"/>
                <a:cs typeface="Open Sans"/>
                <a:sym typeface="Open Sans"/>
              </a:rPr>
              <a:t>95%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692150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Precisão na extração de dados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069250" y="4315000"/>
            <a:ext cx="2156100" cy="7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209875" y="4455625"/>
            <a:ext cx="1933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25"/>
              <a:buFont typeface="Open Sans"/>
              <a:buNone/>
            </a:pPr>
            <a:r>
              <a:rPr lang="en-US" sz="2025" b="1">
                <a:solidFill>
                  <a:srgbClr val="7C3AED"/>
                </a:solidFill>
                <a:latin typeface="Open Sans"/>
                <a:ea typeface="Open Sans"/>
                <a:cs typeface="Open Sans"/>
                <a:sym typeface="Open Sans"/>
              </a:rPr>
              <a:t>24/7</a:t>
            </a:r>
            <a:endParaRPr sz="20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6209875" y="4736875"/>
            <a:ext cx="19335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4B5563"/>
                </a:solidFill>
                <a:latin typeface="Open Sans"/>
                <a:ea typeface="Open Sans"/>
                <a:cs typeface="Open Sans"/>
                <a:sym typeface="Open Sans"/>
              </a:rPr>
              <a:t>Disponibilidade do sistema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/>
          <p:nvPr/>
        </p:nvSpPr>
        <p:spPr>
          <a:xfrm>
            <a:off x="-32875" y="0"/>
            <a:ext cx="9144000" cy="5143500"/>
          </a:xfrm>
          <a:prstGeom prst="rect">
            <a:avLst/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-457200" y="5314950"/>
            <a:ext cx="1828800" cy="1828800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2978944" y="191095"/>
            <a:ext cx="2334220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Proposta de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241727" y="191095"/>
            <a:ext cx="994767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493037" y="904132"/>
            <a:ext cx="19611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2300538" y="1033910"/>
            <a:ext cx="346200" cy="346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8686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/>
          <p:nvPr/>
        </p:nvSpPr>
        <p:spPr>
          <a:xfrm>
            <a:off x="1622815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Otimização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1622815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Redução drástica do tempo operacional com automação inteligente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627150" y="904132"/>
            <a:ext cx="19611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434651" y="1033910"/>
            <a:ext cx="346200" cy="346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42800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/>
          <p:nvPr/>
        </p:nvSpPr>
        <p:spPr>
          <a:xfrm>
            <a:off x="3756928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Precisão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756928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Eliminação de erros manuais com tecnologia de ponta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761286" y="904132"/>
            <a:ext cx="19611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568786" y="1033910"/>
            <a:ext cx="346200" cy="346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6934" y="1142059"/>
            <a:ext cx="129778" cy="1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"/>
          <p:cNvSpPr/>
          <p:nvPr/>
        </p:nvSpPr>
        <p:spPr>
          <a:xfrm>
            <a:off x="5891064" y="1466504"/>
            <a:ext cx="1755600" cy="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Montserrat"/>
              <a:buNone/>
            </a:pPr>
            <a:r>
              <a:rPr lang="en-US" sz="112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Controle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891064" y="1682800"/>
            <a:ext cx="1755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Open Sans"/>
              <a:buNone/>
            </a:pPr>
            <a:r>
              <a:rPr lang="en-US" sz="7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Maior segurança e rastreabilidade das informações fiscais</a:t>
            </a:r>
            <a:endParaRPr sz="7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493025" y="2284200"/>
            <a:ext cx="6229500" cy="112470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217342" y="2376163"/>
            <a:ext cx="30840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Critérios de Sucesso</a:t>
            </a:r>
            <a:endParaRPr sz="16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0472" y="2844288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/>
          <p:nvPr/>
        </p:nvSpPr>
        <p:spPr>
          <a:xfrm>
            <a:off x="2261897" y="2832325"/>
            <a:ext cx="21726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Precisão</a:t>
            </a:r>
            <a:r>
              <a:rPr lang="en-US" sz="9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9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extração</a:t>
            </a:r>
            <a:r>
              <a:rPr lang="en-US" sz="9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superior a 95%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0472" y="3083586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/>
          <p:nvPr/>
        </p:nvSpPr>
        <p:spPr>
          <a:xfrm>
            <a:off x="2261896" y="3071625"/>
            <a:ext cx="20397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Interface intuitiva e fácil de usar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0642" y="2844288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/>
          <p:nvPr/>
        </p:nvSpPr>
        <p:spPr>
          <a:xfrm>
            <a:off x="5612073" y="2832325"/>
            <a:ext cx="19611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Integração com fontes oficiais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0642" y="3083586"/>
            <a:ext cx="119649" cy="1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/>
          <p:nvPr/>
        </p:nvSpPr>
        <p:spPr>
          <a:xfrm>
            <a:off x="5612073" y="3071625"/>
            <a:ext cx="2039700" cy="1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Adaptação a diferentes formatos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373123" y="3518600"/>
            <a:ext cx="2517900" cy="1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Montserrat"/>
              <a:buNone/>
            </a:pPr>
            <a:r>
              <a:rPr lang="en-US" sz="1687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Próximos </a:t>
            </a:r>
            <a:r>
              <a:rPr lang="en-US" sz="1687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Passos</a:t>
            </a:r>
            <a:endParaRPr sz="1687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2362537" y="3837943"/>
            <a:ext cx="244800" cy="244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2435482" y="3898265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1796475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Desenvolvimento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796475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MVP e testes iniciais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3861836" y="3837943"/>
            <a:ext cx="244800" cy="2448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3939442" y="3893602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3267801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Piloto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3295774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Teste com clientes selecionados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361134" y="3837943"/>
            <a:ext cx="244800" cy="24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5438742" y="3893602"/>
            <a:ext cx="103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781086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Refinamento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795072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Ajustes baseados no feedback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860433" y="3837943"/>
            <a:ext cx="244800" cy="24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6933378" y="3891124"/>
            <a:ext cx="1032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271060" y="4143921"/>
            <a:ext cx="1428000" cy="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Lançamento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294371" y="4307110"/>
            <a:ext cx="1428000" cy="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Open Sans"/>
              <a:buNone/>
            </a:pPr>
            <a:r>
              <a:rPr lang="en-US" sz="6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Disponibilização comercial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2751875" y="4475700"/>
            <a:ext cx="3816900" cy="59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3314260" y="4507009"/>
            <a:ext cx="2890200" cy="1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n-US" sz="12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Vamos Transformar Juntos!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2751875" y="4709600"/>
            <a:ext cx="37632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Automatize seus processos fiscais e economize</a:t>
            </a:r>
            <a:endParaRPr sz="101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3"/>
              <a:buFont typeface="Open Sans"/>
              <a:buNone/>
            </a:pPr>
            <a:r>
              <a:rPr lang="en-US" sz="101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centenas de horas</a:t>
            </a:r>
            <a:endParaRPr sz="101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FFFF">
              <a:alpha val="47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5"/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rgbClr val="FFFFFF">
              <a:alpha val="47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0B90BFE4-D547-F072-0979-50D6084F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>
            <a:extLst>
              <a:ext uri="{FF2B5EF4-FFF2-40B4-BE49-F238E27FC236}">
                <a16:creationId xmlns:a16="http://schemas.microsoft.com/office/drawing/2014/main" id="{BA3E0BAF-2F4A-00E6-E78E-72FB8DB2CCED}"/>
              </a:ext>
            </a:extLst>
          </p:cNvPr>
          <p:cNvSpPr/>
          <p:nvPr/>
        </p:nvSpPr>
        <p:spPr>
          <a:xfrm>
            <a:off x="2452488" y="212924"/>
            <a:ext cx="423902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Arquitetura</a:t>
            </a:r>
            <a:r>
              <a:rPr lang="en-US" sz="2700" b="1" dirty="0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 da </a:t>
            </a:r>
            <a:r>
              <a:rPr lang="en-US" sz="2700" b="1" dirty="0" err="1">
                <a:solidFill>
                  <a:srgbClr val="1A365D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02CF12-16AA-85A6-43BF-C72AEA3096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5" y="1488908"/>
            <a:ext cx="8845810" cy="2165684"/>
          </a:xfrm>
          <a:prstGeom prst="rect">
            <a:avLst/>
          </a:prstGeom>
        </p:spPr>
      </p:pic>
      <p:sp>
        <p:nvSpPr>
          <p:cNvPr id="3" name="Google Shape;239;p5">
            <a:extLst>
              <a:ext uri="{FF2B5EF4-FFF2-40B4-BE49-F238E27FC236}">
                <a16:creationId xmlns:a16="http://schemas.microsoft.com/office/drawing/2014/main" id="{10886910-6195-7216-8545-D9D4C74A4421}"/>
              </a:ext>
            </a:extLst>
          </p:cNvPr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chemeClr val="accent1">
              <a:alpha val="4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40;p5">
            <a:extLst>
              <a:ext uri="{FF2B5EF4-FFF2-40B4-BE49-F238E27FC236}">
                <a16:creationId xmlns:a16="http://schemas.microsoft.com/office/drawing/2014/main" id="{3356B14E-5BFC-AEC1-7957-5965684CF768}"/>
              </a:ext>
            </a:extLst>
          </p:cNvPr>
          <p:cNvSpPr/>
          <p:nvPr/>
        </p:nvSpPr>
        <p:spPr>
          <a:xfrm>
            <a:off x="-457200" y="3771900"/>
            <a:ext cx="1828800" cy="1828800"/>
          </a:xfrm>
          <a:prstGeom prst="ellipse">
            <a:avLst/>
          </a:prstGeom>
          <a:solidFill>
            <a:schemeClr val="accent1">
              <a:alpha val="4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938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A9416F90-BD79-E48B-B425-FF4993CFD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4">
            <a:extLst>
              <a:ext uri="{FF2B5EF4-FFF2-40B4-BE49-F238E27FC236}">
                <a16:creationId xmlns:a16="http://schemas.microsoft.com/office/drawing/2014/main" id="{B67015D7-82CB-BBA9-7052-DA53DE325BD6}"/>
              </a:ext>
            </a:extLst>
          </p:cNvPr>
          <p:cNvSpPr/>
          <p:nvPr/>
        </p:nvSpPr>
        <p:spPr>
          <a:xfrm>
            <a:off x="2347876" y="254177"/>
            <a:ext cx="444824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Modelo</a:t>
            </a:r>
            <a:r>
              <a:rPr lang="en-US" sz="27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capaz</a:t>
            </a:r>
            <a:r>
              <a:rPr lang="en-US" sz="27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7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extrair</a:t>
            </a:r>
            <a:r>
              <a:rPr lang="en-US" sz="27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7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496DD3B-597C-03B1-D0E6-FFCAAF2EF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421" y="1074607"/>
            <a:ext cx="2505075" cy="161925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13600C7-B965-664A-AB79-804AB05CC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421" y="2814029"/>
            <a:ext cx="2505075" cy="17240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3002003-A30B-ADA8-C284-C8F715B37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748" y="1069844"/>
            <a:ext cx="2514600" cy="1628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36BFB5A-F1B9-8029-F733-DE14B600A0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748" y="2823553"/>
            <a:ext cx="2495550" cy="1704975"/>
          </a:xfrm>
          <a:prstGeom prst="rect">
            <a:avLst/>
          </a:prstGeom>
        </p:spPr>
      </p:pic>
      <p:sp>
        <p:nvSpPr>
          <p:cNvPr id="7" name="Google Shape;140;p4">
            <a:extLst>
              <a:ext uri="{FF2B5EF4-FFF2-40B4-BE49-F238E27FC236}">
                <a16:creationId xmlns:a16="http://schemas.microsoft.com/office/drawing/2014/main" id="{57E8EDEF-114C-F20F-90CB-D38AED0FE330}"/>
              </a:ext>
            </a:extLst>
          </p:cNvPr>
          <p:cNvSpPr/>
          <p:nvPr/>
        </p:nvSpPr>
        <p:spPr>
          <a:xfrm>
            <a:off x="1930606" y="1069843"/>
            <a:ext cx="52197" cy="161924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40;p4">
            <a:extLst>
              <a:ext uri="{FF2B5EF4-FFF2-40B4-BE49-F238E27FC236}">
                <a16:creationId xmlns:a16="http://schemas.microsoft.com/office/drawing/2014/main" id="{6B062AB2-3F22-2532-48C6-6A00B84B2E88}"/>
              </a:ext>
            </a:extLst>
          </p:cNvPr>
          <p:cNvSpPr/>
          <p:nvPr/>
        </p:nvSpPr>
        <p:spPr>
          <a:xfrm>
            <a:off x="1944842" y="2814029"/>
            <a:ext cx="45719" cy="17240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40;p4">
            <a:extLst>
              <a:ext uri="{FF2B5EF4-FFF2-40B4-BE49-F238E27FC236}">
                <a16:creationId xmlns:a16="http://schemas.microsoft.com/office/drawing/2014/main" id="{5461EC28-DC19-E8E5-F9F3-F56681C82634}"/>
              </a:ext>
            </a:extLst>
          </p:cNvPr>
          <p:cNvSpPr/>
          <p:nvPr/>
        </p:nvSpPr>
        <p:spPr>
          <a:xfrm>
            <a:off x="4628551" y="1069843"/>
            <a:ext cx="52197" cy="1628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40;p4">
            <a:extLst>
              <a:ext uri="{FF2B5EF4-FFF2-40B4-BE49-F238E27FC236}">
                <a16:creationId xmlns:a16="http://schemas.microsoft.com/office/drawing/2014/main" id="{B34C6EB2-4B7D-AE11-A901-F2D043699F23}"/>
              </a:ext>
            </a:extLst>
          </p:cNvPr>
          <p:cNvSpPr/>
          <p:nvPr/>
        </p:nvSpPr>
        <p:spPr>
          <a:xfrm>
            <a:off x="4628551" y="2823552"/>
            <a:ext cx="52197" cy="1704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40;p4">
            <a:extLst>
              <a:ext uri="{FF2B5EF4-FFF2-40B4-BE49-F238E27FC236}">
                <a16:creationId xmlns:a16="http://schemas.microsoft.com/office/drawing/2014/main" id="{E76BD322-9A5C-5A73-AEF9-EDBB1454DBFF}"/>
              </a:ext>
            </a:extLst>
          </p:cNvPr>
          <p:cNvSpPr/>
          <p:nvPr/>
        </p:nvSpPr>
        <p:spPr>
          <a:xfrm rot="16200000">
            <a:off x="3582776" y="-617423"/>
            <a:ext cx="52197" cy="252199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8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F9CFF359-50C5-1F09-B837-9791D4EE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>
            <a:extLst>
              <a:ext uri="{FF2B5EF4-FFF2-40B4-BE49-F238E27FC236}">
                <a16:creationId xmlns:a16="http://schemas.microsoft.com/office/drawing/2014/main" id="{5EF0B4ED-B374-9DE6-2B9C-969B0536F7E0}"/>
              </a:ext>
            </a:extLst>
          </p:cNvPr>
          <p:cNvSpPr/>
          <p:nvPr/>
        </p:nvSpPr>
        <p:spPr>
          <a:xfrm>
            <a:off x="1545458" y="226937"/>
            <a:ext cx="60530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Interface 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para </a:t>
            </a:r>
            <a:r>
              <a:rPr lang="en-US" sz="2700" b="1" dirty="0" err="1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envio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 e consulta</a:t>
            </a:r>
            <a:endParaRPr sz="2700" dirty="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13423415-C4DE-FFA2-A21C-93C8AA93D7FC}"/>
              </a:ext>
            </a:extLst>
          </p:cNvPr>
          <p:cNvSpPr/>
          <p:nvPr/>
        </p:nvSpPr>
        <p:spPr>
          <a:xfrm>
            <a:off x="129943" y="1378146"/>
            <a:ext cx="1098568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Exemplo</a:t>
            </a:r>
            <a: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:</a:t>
            </a:r>
            <a:b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</a:b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carga de NF-e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em</a:t>
            </a: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 PDF</a:t>
            </a:r>
            <a:endParaRPr sz="11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7;p4">
            <a:extLst>
              <a:ext uri="{FF2B5EF4-FFF2-40B4-BE49-F238E27FC236}">
                <a16:creationId xmlns:a16="http://schemas.microsoft.com/office/drawing/2014/main" id="{6BBE5908-DC11-2BC5-B237-C17B54766B49}"/>
              </a:ext>
            </a:extLst>
          </p:cNvPr>
          <p:cNvSpPr/>
          <p:nvPr/>
        </p:nvSpPr>
        <p:spPr>
          <a:xfrm>
            <a:off x="7693014" y="1378146"/>
            <a:ext cx="118669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Exemplo</a:t>
            </a:r>
            <a: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:</a:t>
            </a:r>
            <a:b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</a:b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carga de NFS-e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em</a:t>
            </a: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imagem</a:t>
            </a:r>
            <a:endParaRPr sz="11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57EEC70-3615-0661-0C43-97866D23B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289" y="915469"/>
            <a:ext cx="3138170" cy="391541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2608D70-41BD-76A7-8453-2DE841571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644" y="915469"/>
            <a:ext cx="3131185" cy="400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3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D920E114-ABC9-3EAC-857F-BB437C1B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>
            <a:extLst>
              <a:ext uri="{FF2B5EF4-FFF2-40B4-BE49-F238E27FC236}">
                <a16:creationId xmlns:a16="http://schemas.microsoft.com/office/drawing/2014/main" id="{1D229D6A-EA7B-2CA7-C75E-E6C40A81EE00}"/>
              </a:ext>
            </a:extLst>
          </p:cNvPr>
          <p:cNvSpPr/>
          <p:nvPr/>
        </p:nvSpPr>
        <p:spPr>
          <a:xfrm>
            <a:off x="1545458" y="226937"/>
            <a:ext cx="60530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2700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Interface 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para </a:t>
            </a:r>
            <a:r>
              <a:rPr lang="en-US" sz="2700" b="1" dirty="0" err="1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envio</a:t>
            </a:r>
            <a:r>
              <a:rPr lang="en-US" sz="2700" b="1" dirty="0">
                <a:solidFill>
                  <a:srgbClr val="27AE60"/>
                </a:solidFill>
                <a:latin typeface="Montserrat"/>
                <a:ea typeface="Calibri"/>
                <a:cs typeface="Calibri"/>
                <a:sym typeface="Montserrat"/>
              </a:rPr>
              <a:t> e consulta</a:t>
            </a:r>
            <a:endParaRPr sz="2700" dirty="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7;p4">
            <a:extLst>
              <a:ext uri="{FF2B5EF4-FFF2-40B4-BE49-F238E27FC236}">
                <a16:creationId xmlns:a16="http://schemas.microsoft.com/office/drawing/2014/main" id="{2F610B5B-307A-3839-B151-A6836321BF2A}"/>
              </a:ext>
            </a:extLst>
          </p:cNvPr>
          <p:cNvSpPr/>
          <p:nvPr/>
        </p:nvSpPr>
        <p:spPr>
          <a:xfrm>
            <a:off x="6279850" y="1378146"/>
            <a:ext cx="118669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25"/>
              <a:buFont typeface="Montserrat"/>
              <a:buNone/>
            </a:pPr>
            <a:r>
              <a:rPr lang="en-US" sz="1125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Exemplo</a:t>
            </a:r>
            <a:r>
              <a:rPr lang="en-US" sz="1125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:</a:t>
            </a:r>
            <a:b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</a:b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carga de CT-e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em</a:t>
            </a:r>
            <a:r>
              <a:rPr lang="en-US" sz="1125" b="1" dirty="0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 </a:t>
            </a:r>
            <a:r>
              <a:rPr lang="en-US" sz="1125" b="1" dirty="0" err="1">
                <a:solidFill>
                  <a:srgbClr val="1A365D"/>
                </a:solidFill>
                <a:latin typeface="Montserrat"/>
                <a:ea typeface="Calibri"/>
                <a:cs typeface="Calibri"/>
                <a:sym typeface="Montserrat"/>
              </a:rPr>
              <a:t>imagem</a:t>
            </a:r>
            <a:endParaRPr sz="11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617C3F-BEA2-2E52-BC39-23616EF3A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336" y="771635"/>
            <a:ext cx="3207327" cy="414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35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130">
          <a:extLst>
            <a:ext uri="{FF2B5EF4-FFF2-40B4-BE49-F238E27FC236}">
              <a16:creationId xmlns:a16="http://schemas.microsoft.com/office/drawing/2014/main" id="{E1D05B0D-C8C1-A1F3-7C24-DD800547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4">
            <a:extLst>
              <a:ext uri="{FF2B5EF4-FFF2-40B4-BE49-F238E27FC236}">
                <a16:creationId xmlns:a16="http://schemas.microsoft.com/office/drawing/2014/main" id="{628CFF02-A42C-32F3-DE0E-2387480A21EA}"/>
              </a:ext>
            </a:extLst>
          </p:cNvPr>
          <p:cNvSpPr/>
          <p:nvPr/>
        </p:nvSpPr>
        <p:spPr>
          <a:xfrm>
            <a:off x="5248255" y="1220459"/>
            <a:ext cx="291277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700"/>
              <a:buFont typeface="Montserrat"/>
              <a:buNone/>
            </a:pPr>
            <a:r>
              <a:rPr lang="en-US" sz="12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r>
              <a:rPr lang="en-US" sz="12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do </a:t>
            </a:r>
            <a:r>
              <a:rPr lang="en-US" sz="12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grupo</a:t>
            </a:r>
            <a:r>
              <a:rPr lang="en-US" sz="12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12;p5">
            <a:extLst>
              <a:ext uri="{FF2B5EF4-FFF2-40B4-BE49-F238E27FC236}">
                <a16:creationId xmlns:a16="http://schemas.microsoft.com/office/drawing/2014/main" id="{A7177DC6-480E-EE5F-83CF-A60CB8847668}"/>
              </a:ext>
            </a:extLst>
          </p:cNvPr>
          <p:cNvSpPr/>
          <p:nvPr/>
        </p:nvSpPr>
        <p:spPr>
          <a:xfrm>
            <a:off x="5248255" y="1647263"/>
            <a:ext cx="3058248" cy="253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Ana Paola </a:t>
            </a: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Zarate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Zequita</a:t>
            </a:r>
            <a:endParaRPr lang="pt-BR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0"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Antonio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João Nascimento Dantas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Aurélio Marques </a:t>
            </a: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Morbeck</a:t>
            </a:r>
            <a:endParaRPr lang="pt-BR" sz="11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Daniel Correa Rodrigues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Eduarda Silveira Cardoso</a:t>
            </a:r>
          </a:p>
          <a:p>
            <a:pPr lvl="0"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Lorrane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da F C Santos Santana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Luciane Schumacher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Matheus de Oliveira Vieira</a:t>
            </a:r>
          </a:p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Valdinei de Souza Camargo</a:t>
            </a:r>
          </a:p>
          <a:p>
            <a:pPr lvl="0">
              <a:lnSpc>
                <a:spcPct val="150000"/>
              </a:lnSpc>
            </a:pPr>
            <a:r>
              <a:rPr lang="pt-BR" sz="1100" dirty="0" err="1">
                <a:solidFill>
                  <a:schemeClr val="bg1"/>
                </a:solidFill>
                <a:latin typeface="Montserrat" panose="00000500000000000000" pitchFamily="2" charset="0"/>
              </a:rPr>
              <a:t>Walison</a:t>
            </a:r>
            <a:r>
              <a:rPr lang="pt-BR" sz="1100" dirty="0">
                <a:solidFill>
                  <a:schemeClr val="bg1"/>
                </a:solidFill>
                <a:latin typeface="Montserrat" panose="00000500000000000000" pitchFamily="2" charset="0"/>
              </a:rPr>
              <a:t> Carlos da Silva</a:t>
            </a:r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B323188-74BC-3D63-A8A3-0B7F7B495441}"/>
              </a:ext>
            </a:extLst>
          </p:cNvPr>
          <p:cNvCxnSpPr>
            <a:cxnSpLocks/>
          </p:cNvCxnSpPr>
          <p:nvPr/>
        </p:nvCxnSpPr>
        <p:spPr>
          <a:xfrm>
            <a:off x="4565073" y="1073727"/>
            <a:ext cx="0" cy="32281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5;p1">
            <a:extLst>
              <a:ext uri="{FF2B5EF4-FFF2-40B4-BE49-F238E27FC236}">
                <a16:creationId xmlns:a16="http://schemas.microsoft.com/office/drawing/2014/main" id="{4EEF35A2-5728-E895-695C-B42519C66E30}"/>
              </a:ext>
            </a:extLst>
          </p:cNvPr>
          <p:cNvSpPr/>
          <p:nvPr/>
        </p:nvSpPr>
        <p:spPr>
          <a:xfrm>
            <a:off x="837497" y="2311003"/>
            <a:ext cx="1403747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75"/>
              <a:buFont typeface="Montserrat"/>
              <a:buNone/>
            </a:pPr>
            <a:r>
              <a:rPr lang="en-US" sz="3375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NF AI</a:t>
            </a:r>
            <a:endParaRPr sz="33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6;p1">
            <a:extLst>
              <a:ext uri="{FF2B5EF4-FFF2-40B4-BE49-F238E27FC236}">
                <a16:creationId xmlns:a16="http://schemas.microsoft.com/office/drawing/2014/main" id="{5D28FBFD-DC27-1B8A-D77D-76102E121487}"/>
              </a:ext>
            </a:extLst>
          </p:cNvPr>
          <p:cNvSpPr/>
          <p:nvPr/>
        </p:nvSpPr>
        <p:spPr>
          <a:xfrm>
            <a:off x="2169806" y="2311003"/>
            <a:ext cx="1871663" cy="521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3375"/>
              <a:buFont typeface="Montserrat"/>
              <a:buNone/>
            </a:pPr>
            <a:r>
              <a:rPr lang="en-US" sz="3375" b="1" i="0" u="none" strike="noStrike" cap="none" dirty="0" err="1">
                <a:solidFill>
                  <a:srgbClr val="27AE60"/>
                </a:solidFill>
                <a:latin typeface="Montserrat"/>
                <a:ea typeface="Montserrat"/>
                <a:cs typeface="Montserrat"/>
                <a:sym typeface="Montserrat"/>
              </a:rPr>
              <a:t>Extrator</a:t>
            </a:r>
            <a:endParaRPr sz="33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388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432</Words>
  <Application>Microsoft Office PowerPoint</Application>
  <PresentationFormat>Apresentação na tela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Montserrat</vt:lpstr>
      <vt:lpstr>Open Sans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PptxGenJS</dc:creator>
  <cp:lastModifiedBy>Antonio João Nascimento Dantas / SUAFI</cp:lastModifiedBy>
  <cp:revision>2</cp:revision>
  <dcterms:created xsi:type="dcterms:W3CDTF">2025-06-06T01:48:02Z</dcterms:created>
  <dcterms:modified xsi:type="dcterms:W3CDTF">2025-07-24T00:55:58Z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Público</vt:lpwstr>
  </property>
</Properties>
</file>